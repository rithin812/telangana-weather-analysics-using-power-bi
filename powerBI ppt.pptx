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8" r:id="rId3"/>
    <p:sldId id="268" r:id="rId4"/>
    <p:sldId id="269" r:id="rId5"/>
    <p:sldId id="270" r:id="rId6"/>
    <p:sldId id="271" r:id="rId7"/>
    <p:sldId id="275" r:id="rId8"/>
    <p:sldId id="261" r:id="rId9"/>
    <p:sldId id="276" r:id="rId10"/>
    <p:sldId id="280" r:id="rId11"/>
    <p:sldId id="277" r:id="rId12"/>
    <p:sldId id="281" r:id="rId13"/>
    <p:sldId id="278" r:id="rId14"/>
    <p:sldId id="282" r:id="rId15"/>
    <p:sldId id="279" r:id="rId16"/>
    <p:sldId id="283" r:id="rId17"/>
    <p:sldId id="284" r:id="rId18"/>
    <p:sldId id="266" r:id="rId19"/>
    <p:sldId id="259" r:id="rId20"/>
  </p:sldIdLst>
  <p:sldSz cx="12192000" cy="6858000"/>
  <p:notesSz cx="6858000" cy="9144000"/>
  <p:embeddedFontLst>
    <p:embeddedFont>
      <p:font typeface="Libre Baskerville" panose="02000000000000000000" pitchFamily="2" charset="0"/>
      <p:regular r:id="rId22"/>
      <p:bold r:id="rId23"/>
      <p: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3" autoAdjust="0"/>
    <p:restoredTop sz="94660"/>
  </p:normalViewPr>
  <p:slideViewPr>
    <p:cSldViewPr snapToGrid="0">
      <p:cViewPr varScale="1">
        <p:scale>
          <a:sx n="78" d="100"/>
          <a:sy n="78" d="100"/>
        </p:scale>
        <p:origin x="69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06:24:34.979"/>
    </inkml:context>
    <inkml:brush xml:id="br0">
      <inkml:brushProperty name="width" value="0.35" units="cm"/>
      <inkml:brushProperty name="height" value="0.35" units="cm"/>
      <inkml:brushProperty name="color" value="#FFFFFF"/>
    </inkml:brush>
  </inkml:definitions>
  <inkml:trace contextRef="#ctx0" brushRef="#br0">204 440 24575,'615'0'0,"430"0"-37,-1028-1 53,-1-1-1,32-7 0,-30 5-18,0 1 0,23-2 0,-12 4 3,12 1 0,77-12 0,15-2 0,-23 4 0,133-14 0,-191 19 0,-1 2 0,57 4 0,59-3 0,-91-10 0,-48 7 0,43-2 0,-126 11-223,-77 14 1,34-3-186,-995 191-2838,1057-198 3866,22-6 14,0 1 1,0 0-1,1 1 1,-25 10-1,69-9-327,105-10-643,205-34-1,-168 16 194,61-6 143,-218 27 204,0 0 0,0-2 0,16-5 0,-79 3-204,-217 9-2299,-290 41 0,-46 53 395,305-45 1908,-358 53-1760,406-55 1915,171-29 4282,309-118-1464,-37 13-4953,71-13-1137,337-76 0,614-70 999,-1059 221 2380,10-1 905,217-58 0,-289 50 889,-75 25-3926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06:24:46.793"/>
    </inkml:context>
    <inkml:brush xml:id="br0">
      <inkml:brushProperty name="width" value="0.35" units="cm"/>
      <inkml:brushProperty name="height" value="0.35" units="cm"/>
      <inkml:brushProperty name="color" value="#FFFFFF"/>
    </inkml:brush>
  </inkml:definitions>
  <inkml:trace contextRef="#ctx0" brushRef="#br0">7060 952 24575,'-27'-10'0,"4"1"0,-63 0 0,17 3 0,-103-22 0,-305-22-131,4 44-498,290 7 601,112 2 28,0 2 0,0 4 0,1 3 0,-91 27 0,-262 117 0,323-108 159,-99 65 0,168-95 225,-13 12-328,41-28-53,0 0-1,1 0 1,-1 0-1,0 1 1,1-1-1,0 1 1,-1 0-1,1 0 1,0 0-1,1 0 1,-4 7-1,5-10-2,0 1 0,0 0 0,0 0 0,0 0 0,0 0 0,1-1 0,-1 1 0,0 0 0,1 0 0,-1 0 0,0-1 0,1 1 0,-1 0 0,1 0 0,-1-1 0,1 1 0,-1 0 0,1-1 0,0 1 0,-1-1 0,1 1 0,0-1 0,-1 1 0,1-1 0,0 1 0,0-1 0,-1 0 0,1 0 0,1 1 0,27 8 0,-29-9 0,43 7-341,0-2-1,57-1 0,-20-1-200,1156 11-7243,-416-71 4175,-1-34 899,-418 45 2154,1574-211 459,-1703 215 390,212-37 425,-152 9 5616,-365 84-4539,21-9-1724,-84 35 1636,-375 147-1381,-21-4-3123,-189 67-965,-436 119 1480,-242 87-165,956-316 2797,-248 93 1026,20 41-328,626-272-993,-21 11 629,0 1 0,1 1-1,-25 22 1508,65-43-1487,24-13-87,183-109-426,395-211-3165,-56 91 354,72 22 3246,-619 222-640,1703-498-1826,54 124 210,-678 190 3867,-1070 184-1939,127-28 3260,-201 38 375,18 4-2781,0 2 1,1 2-1,-56 31 1,-12 6 489,71-37-1641,17-8 0,-1 0 0,0-1 0,0 0 0,0-1 0,-16 3 0,-1415 170-8821,716-97 5306,-81 1 1554,-307 39 2534,1024-108 277,25-4 1562,-101 24-1,230-54 486,65-34-1,-58 24-2043,240-100-4460,505-143 0,69 99 1893,-621 132 1816,-255 43-97,230-48 2972,-310 72-553,-73 35 0,-83 48-3768,67-30 288,-921 381-5737,611-274 5895,-188 75 744,543-211 548,17-8 2054,-121 66-1,142-61 2541,93-43-4057,18-4-53,43-18-876,-1-4 0,139-67 0,-126 52-141,120-39 1,-192 74 138,-8 4 0,0 0 0,-1-1 0,0 0 0,1 0 0,-1 0 0,0-1 0,0 0 0,0-1 0,0 1 0,6-6 0,-13 8 14,1 1 1,0-1 0,-1 1 0,1-1 0,-1 1 0,1-1 0,-1 1-1,1-1 1,-1 1 0,0 0 0,1-1 0,-1 1 0,1 0 0,-1-1-1,0 1 1,1 0 0,-1 0 0,0 0 0,1 0 0,-1-1-1,0 1 1,1 0 0,-1 0 0,0 0 0,1 0 0,-1 0 0,0 1-1,-24-3 402,-548 1-2420,262 3 1203,208 0 561,-112-4-280,214 2 549,0 0 0,1 0 0,-1 0-1,0 0 1,0 0 0,0-1 0,0 1 0,0 0 0,0 0-1,0-1 1,0 1 0,0 0 0,0-1 0,0 1 0,0-1 0,1 1-1,-1-1 1,0 0 0,0 1 0,1-1 0,-1 0 0,0 1-1,0-2 1,1 1 18,0-1 0,-1 1 0,1 0-1,0 0 1,0 0 0,0 0 0,1 0-1,-1 0 1,0 0 0,0 0 0,1 0-1,-1 0 1,0 0 0,1 0 0,-1 0-1,1 0 1,-1 0 0,2 0 0,4-8 347,1 0 0,0 1 0,13-10 0,-13 11-184,33-30-111,80-57 0,-117 92-99,0 0 0,0 0 0,-1 0 0,1 0 0,-1-1 0,0 1 0,1-1 0,-1 1 0,2-5 0,-4 7 0,0 0 0,0-1 0,0 1 0,0-1 0,1 1 0,-1 0 0,0-1 0,0 1 0,0-1 0,0 1 0,0-1 0,0 1 0,0-1 0,0 1 0,0 0 0,-1-1 0,1 1 0,0-1 0,0 1 0,0-1 0,0 1 0,-1 0 0,1-1 0,0 1 0,0 0 0,-1-1 0,1 1 0,-1-1 0,-1 0 0,1 0 0,0 0 0,-1 1 0,1-1 0,-1 0 0,1 1 0,-1 0 0,1-1 0,-1 1 0,1 0 0,-3-1 0,-30-1-83,0 1 0,-1 1 1,1 2-1,-35 7 0,-134 32-389,184-37 467,-61 15-32,-133 27 133,224-48 86,0-2 0,-1 0 0,0 0 0,20-11 0,54-36-485,-30 18-335,347-180 256,-196 112 292,-188 89 40,-17 11 63,0 1 1,0 0-1,0 0 1,-1-1-1,1 1 0,0 0 1,0 0-1,-1 0 0,1-1 1,0 1-1,0 0 1,-1 0-1,1 0 0,0 0 1,-1-1-1,1 1 1,0 0-1,-1 0 0,1 0 1,0 0-1,-1 0 1,1 0-1,0 0 0,-1 0 1,1 0-1,0 0 1,-1 0-1,1 0 0,0 0 1,-1 0-1,1 1 1,-43 5 820,-12 12-776,-101 47 1,60-22-54,-116 50-5,209-93 0,6-4 0,14-13 0,28-20 0,11-5 0,87-85 0,-142 127 0,0-1 0,-1 1 0,1 0 0,-1-1 0,1 1 0,-1 0 0,1-1 0,-1 1 0,1-1 0,-1 1 0,0-1 0,1 1 0,-1-1 0,0 1 0,1-1 0,-1 0 0,0 1 0,0-1 0,1 1 0,-1-1 0,0 0 0,0 1 0,0-1 0,0 0 0,0 1 0,0-1 0,0 0 0,0 1 0,0-1 0,0 1 0,0-1 0,-1-1 0,-17-4 0,-5-1 0,23 7 0,-1-1 0,0 1 0,1 0 0,-1-1 0,1 1 0,0-1 0,-1 1 0,1-1 0,-1 0 0,1 1 0,0-1 0,-1 1 0,1-1 0,0 1 0,0-1 0,0 0 0,-1 1 0,1-1 0,0 0 0,0 1 0,0-1 0,0 0 0,0 1 0,0-1 0,0 0 0,0 1 0,0-1 0,0 0 0,1 1 0,-1-1 0,0 1 0,1-2 0,1-2 0,0-1 0,1 1 0,-1-1 0,1 1 0,0 0 0,0 0 0,1 0 0,7-6 0,37-29 0,-34 29 0,106-77-624,138-75 0,-83 56 514,-167 99 313,-14 7 248,-18 8 234,-646 283-2397,269-120 912,-292 117 800,408-170-332,-58 25-118,301-125 478,12-5 772,-1 1 0,-31 21-1,62-35-783,0 0 0,0 0 0,-1 0 0,1 0 0,0 0 0,0 0-1,0 0 1,-1 0 0,1 0 0,0 0 0,0 0 0,0 0 0,0 0-1,-1 0 1,1 0 0,0 0 0,0 0 0,0 0 0,0 1 0,-1-1-1,1 0 1,0 0 0,0 0 0,0 0 0,0 0 0,0 0 0,0 1-1,-1-1 1,1 0 0,0 0 0,0 0 0,0 0 0,0 1 0,0-1-1,0 0 1,0 0 0,0 0 0,0 1 0,0-1 0,0 0 0,0 0-1,0 0 1,0 1 0,0-1 0,0 0 0,0 0 0,0 0 0,0 0-1,0 1 1,0-1 0,13-1 125,23-10-205,194-90-1230,100-39-1352,1141-298-1409,-1470 438 4046,605-150-1101,-543 126 1651,-49 17 113,1 1 0,1 1 0,-1 0 0,1 1 0,19 8 2070,-35-4-2674,-14 15 779,-31 19 100,-70 42 0,70-48-1008,-81 66 0,2 0 79,82-64 0,-56 50 0,80-65 0,-1-1 0,0-1 0,-27 15 0,8-6 0,-108 55 0,60-35 0,19-7 0,-130 49 0,288-82 0,591-95-783,-410 48 587,112-27 1175,-466 74-979,-27 18-841,-205 65 0,84-19-421,16-13 1262,-215 56 0,265-72-234,13-4 21,135-27 422,16-6-202,0 0 1,0 0 0,0 0 0,0 0 0,0 0-1,0 0 1,0 0 0,0 0 0,0 0 0,0 0-1,-1 0 1,1 0 0,0 0 8,0 1-1,0-1-7,0 0 0,0 0 0,0 0-1,0 0 1,0 0 0,0 0 0,0 0 0,0 0-1,0 0 1,0 0 0,0 0 0,0 1 0,0-1-1,0 0 1,0 0 0,0 0 0,0 0 0,0 0-1,0 0 1,0 0 0,0 0 0,0 0 0,0 0-1,0 1 1,0-1 0,0 0 0,0 0 0,0 0-1,0 0 1,0 0 0,0 0 0,0 0 23,0 0-23,0 0 0,0 0-1,1 1 1,-1-1 0,0 0 0,0 0 0,0 0-1,0 0 1,0 0 0,0 0 0,0 0 0,29-1 1190,147-42-980,-52 10-400,548-109-1481,-413 90 1275,589-79-1487,-495 84 1382,446-17 493,-412 43-547,90-2-204,-281 11 1560,-9 1 1573,20 0-1849,8-1 615,34 0-1099,15 0-59,-116 0 1105,4 0 57,-243 17-1653,-113 21-1,134-15-142,-699 115-4657,236-35 2199,-311 52 2782,327-46-448,175-25 4154,274-63-1357,51-8-1062,0 1 1,0 1-1,-33 11 1469,59-14-2015,19-6-457,125-54-319,70-23-1706,739-151-4501,17 87 4486,-233 57 2093,-293 37-235,-443 51 290,66-7 2141,136-1 1,-230 11-1493,-1 2 0,1-1 1,0 2-1,1 1 1,-1 0-1,-21 10 0,-1-1-76,-58 17-917,-1152 350-3737,512-153 3209,669-208 1378,46-14-61,0 1 0,0 1-1,-40 24 1817,81-38-1303,90-54-397,-13 5-1597,108-41-748,319-103 1,231-22-1524,-701 206 3215,742-180 1542,-773 188 282,-35 6-267,-35 2 37,-29 6-1732,-114 23 0,-75 35-2310,61-14 953,-768 150-3999,-167 38 3939,855-177 1967,-58 15 3248,202-40 3793,204-48-6286,138-49-1667,401-97-2237,601-11-878,-1026 148 7138,-250 63-152,-102 36-4048,-90 42 31,92-42 422,-44 24 841,202-93 276,29-12-645,30-12-261,381-123-608,-380 125 641,-3-1 0,1 3 0,64-8 0,-392 21-386,87-4-941,-442 47-1944,3 40 2581,-270 30-254,864-112 1306,26-3 252,0 0 1,1 2-1,-1 0 0,-28 9 0,114-22 3066,686-106-6326,7 33-2657,48-5 2137,280-37 3082,-973 117 979,-57 5 1185,100-19 1,-275 36 2834,-372 123-6591,384-105 1919,-153 54-243,-104 31 0,-59 21-906,348-112 700,-4 4 148,42-15 1020,-46 12-1,70-25-716,9-6 61,16-11 374,28-16 143,1 6-823,-33 20 0,-1-1 0,0 1 0,0-2 0,0 0 0,-1 0 0,11-11 0,-19 18 0,-1 0 0,0-1 0,0 1 0,0 0 0,0 0 0,0 0 0,0-1 0,1 1 0,-1 0 0,0 0 0,0-1 0,0 1 0,0 0 0,0 0 0,0-1 0,0 1 0,0 0 0,0 0 0,0-1 0,0 1 0,0 0 0,0 0 0,-1-1 0,1 1 0,0 0 0,0 0 0,0 0 0,0-1 0,0 1 0,0 0 0,0 0 0,-1 0 0,1-1 0,0 1 0,0 0 0,0 0 0,-1 0 0,1 0 0,0-1 0,0 1 0,0 0 0,-1 0 0,1 0 0,0 0 0,0 0 0,-1 0 0,1 0 0,0 0 0,0 0 0,-1 0 0,1 0 0,0 0 0,0 0 0,-1 0 0,1 0 0,0 0 0,-19-2 0,18 2 0,-382 0 0,162 2 0,192-2 0,0-1 0,-1 1 0,1 1 0,-1 2 0,1 1 0,-57 15 0,43-7 0,0-3 0,0-1 0,-84 4 0,61-7 0,-14 6 0,-21 1 0,623-15-3043,-272 5 1674,219-1-1789,540-3-849,0-58 3036,-676 33 198,25 2 676,728-71 141,-88-27 3987,-886 108-3029,263-44 6374,-339 51-7005,60-17 223,-108 22-594,-14 1 0,-829-21-5007,-137 0-1449,642 21 6239,-673 4 401,3 40-1607,283-11 1886,725-31-432,-194 8 832,74 4 2830,339-44 769,117-15-4767,736-37-3661,5 32-727,-837 42 4470,1056-74-404,-323-32 2970,-891 106-1137,-16 3 1631,64-16 1,-170 21 111,-33 3-2924,-441 4-3329,-2 28-54,-457 109 1446,608-76 1870,-499 100 402,837-157 245,-189 30 4233,239-49-4143,14-9-24,105-51-1014,2 4 1,194-65 0,288-46-2063,-445 133 2086,410-97 413,133-36-1650,-703 175 1561,381-98 5648,-423 106-4682,-30 17-919,-87 44 1,37-14-228,-349 129-790,-80 36-260,428-168 1049,-192 97-1425,212-92 1843,-88 49 4478,168-96-4599,14-8-120,0 0-1,0 0 0,0 0 0,0 0 1,0 0-1,0 0 0,0 0 1,1 0-1,-1 0 0,0 0 1,0 0-1,0 0 0,0 0 0,0 0 1,0 0-1,0 0 0,0 0 1,0 1-1,0-1 0,0 0 1,0 0-1,0 0 0,0 0 0,0 0 1,0 0-1,1 0 0,-1 0 1,0 0-1,0 0 0,0 0 1,0 0-1,0 0 0,0 0 0,0 0 1,0 0-1,0 0 0,0 1 1,0-1-1,0 0 0,0 0 1,0 0-1,0 0 0,0 0 0,0 0 1,0 0-1,0 0 0,0 0 1,0 0-1,0 0 0,0 0 1,0 0-1,0 0 0,0 0 0,-1 1 1,1-1-1,0 0 0,0 0 1,0 0-1,0 0 0,0 0 1,0 0-1,0 0 0,0 0 0,27-7-11,182-80-815,-84 33 129,173-50-1,-245 90 791,291-86-672,-310 85 1319,-28 8-42,-24 4-69,-37 6-788,1 3 0,1 3 0,-100 28 0,123-29-56,-518 138-2253,-216 56 2436,423-113-1418,306-80 2834,-1 2 1,-49 26 934,94-36-2002,13-3-281,205-69-948,-98 27-262,206-47-720,417-58 0,339-2-752,-346 60 1908,-635 73 2266,-23 5 4296,-115 14-5156,0 2 0,-29 6 0,-115 34-2074,123-30 1081,-237 69-1769,-174 45-465,-465 123 1719,814-219-5,-172 59 1093,99-22 3679,158-51-1050,40-21-2099,245-97-1704,157-54-2075,605-149-1039,-555 152 2803,-161 36 3561,-263 100-358,-93 12 1966,-396 39-4504,4 30-2774,-664 149 620,1092-211 2622,-651 156 774,592-134 324,45-14 640,0-2 1,-47 9 0,130-32-1423,-1-2 1,69-31-1,-3 1-1395,813-230-1876,-824 250 3209,335-85-3066,-257 57 4471,-159 41 618,-28 13-2149,-10-3 723,-18 1 2,-94 5-794,-148 23 0,162-13-625,-842 106-5516,309-36 2928,-497 101 4126,1004-155 2242,151-40-2175,27-15 52,79-47 1216,171-88-1016,-87 75-2351,324-89 1,238-5 2932,-809 179-162,36 1-1619,-1007 9-4371,2 35-20,867-36 3862,-173 18 2824,302-21-559,36-7-499,26-9 232,65-25 0,-25 7-687,333-83-4391,477-61-1,-268 91 1564,-106 16 1132,-463 57 804,302-38 393,-105 32 5715,-289 16-4353,-186 10 1623,-112 22-3982,-44 3-1685,80-18 1087,-510 48-842,718-55 1637,-338 55 849,269-26 4058,193-39-1429,359-61-4131,-181 20-421,698-52-4098,6 62 2385,-703 25 3450,1074-3-674,-860 18 6869,-432-10-6297,-31 15 1506,10-8-1010,-323 128 3114,-479 192-5738,582-238 808,-77 24 967,16-11 5492,296-99-5122,-3 1-40,0 0-1,0-1 0,0 0 1,0-1-1,-16 3 0,24-5-8,1 0 0,0 0 0,0 0 0,-1 0 0,1 0 0,0 0 0,0-1 0,-1 1 0,1 0 0,0 0 0,0 0 0,0 0 0,-1 0 0,1-1 0,0 1 0,0 0 0,0 0 0,0 0 0,-1-1 0,1 1 0,0 0 0,0 0 0,0 0 0,0-1 0,0 1 0,0 0 0,0 0 0,-1-1 0,1 1 0,0 0 0,0 0 0,0-1 0,0 1 0,0 0 0,0 0 0,0-1 0,0 1 0,1 0 0,-1 0 0,0-1 0,0 1 0,0 0 0,0 0 0,0-1 0,0 1 0,0 0 0,0 0 0,1 0 0,-1-1 0,0 1 0,0 0 0,0 0 0,1 0 0,-1 0 0,0-1 0,0 1 0,0 0 0,1 0 0,-1 0 0,0 0 0,13-14 0,137-126 0,-135 119 0,-14 20 0,-1 1 0,0-1 0,0 0 0,0 0 0,0 1 0,1-1 0,-1 0 0,0 1 0,0-1 0,0 0 0,0 1 0,-1-1 0,1 0 0,0 1 0,0-1 0,0 0 0,-1 1 0,1-1 0,0 0 0,0 1 0,-1-1 0,-2-1 0,1 0 0,0 0 0,-1 0 0,1 1 0,-1-1 0,0 1 0,0 0 0,0-1 0,1 2 0,-1-1 0,0 0 0,0 0 0,-3 1 0,-60-10-597,0 3-1,-82 2 1,32 2-345,-891-19-5879,335 26 5296,341 12 1868,-559 99 0,752-85 2712,158-45-1089,328-163 1184,-114 73-5822,390-115 0,478-106 1542,-1078 319 1218,-7 3 569,0-2-1,28-17 1392,-45 23-2022,-11-6 701,-18 0 78,-313-15 120,205 16-1640,-1112-27-5737,-2 31 2115,604 3 2520,-808 29 1526,5 79 285,588-10-2,9 29 48,46 66 822,476-76 2984,328-118-3770,-23 14 1774,35-12-827,197-2 2841,-100-4-3093,2104 0-10603,-1210 4 9429,-141 27-154,-454-11 700,366 20 1935,-538-25-234,-90-1 32,93 2 6227,-431-11-7475,-111 4-3216,-1309 10-6145,1081-18 6653,-2106-91-723,2380 74 2821,-1315-92 431,1395 102 65,-178-15 3349,355 23-3715,0 1 1,0 0-1,0-1 1,0 0-1,0 0 1,0 0-1,0 0 1,0 0-1,1-1 1,-1 1-1,-3-3 1,6 3-104,-1 1 0,1 0 0,-1-1 0,1 1 0,0-1 1,-1 1-1,1-1 0,0 1 0,0-1 0,-1 1 0,1-1 0,0 1 0,0-1 1,0 1-1,0-1 0,0 1 0,0-1 0,0 1 0,0-1 0,0 1 0,0-1 0,0 1 1,0-1-1,0 1 0,0-1 0,1-1 25,0 1 0,-1 0-1,1-1 1,0 1 0,0 0 0,0 0-1,0 0 1,0 0 0,1 0 0,-1 0 0,0 0-1,0 0 1,2-1 0,38-19 975,1 2-1,1 1 1,78-20 0,-61 19-324,904-216-5463,191 75 935,-422 68 3223,-205 39 5555,-488 51-3987,0 1 1849,70-11 1,-97 10-2806,0 1 0,0 0 0,0 1 1,0 0-1,0 1 0,0 0 0,19 5 1,7 5-27,41 16 1,-14-3-16,-21-10-3,287 79-638,-81-38 487,19 4 200,-264-58-16,26 5 252,-23-1-75,-17 1-4,-26 2-143,0-1 1,-57 2-1,62-6-55,-251 29-212,-177 14-236,293-35 687,-90 3 214,231-14-786,0 2 0,0 0-1,-26 7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69053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3.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017" y="-114697"/>
            <a:ext cx="12190815" cy="7363508"/>
          </a:xfrm>
          <a:prstGeom prst="rect">
            <a:avLst/>
          </a:prstGeom>
          <a:noFill/>
          <a:ln>
            <a:noFill/>
          </a:ln>
        </p:spPr>
      </p:pic>
      <p:sp>
        <p:nvSpPr>
          <p:cNvPr id="99" name="Google Shape;99;p1"/>
          <p:cNvSpPr txBox="1"/>
          <p:nvPr/>
        </p:nvSpPr>
        <p:spPr>
          <a:xfrm>
            <a:off x="1655140" y="3921050"/>
            <a:ext cx="8902568" cy="1077178"/>
          </a:xfrm>
          <a:prstGeom prst="rect">
            <a:avLst/>
          </a:prstGeom>
          <a:noFill/>
          <a:ln>
            <a:noFill/>
          </a:ln>
        </p:spPr>
        <p:txBody>
          <a:bodyPr spcFirstLastPara="1" wrap="square" lIns="91425" tIns="45700" rIns="91425" bIns="45700" anchor="t" anchorCtr="0">
            <a:spAutoFit/>
          </a:bodyPr>
          <a:lstStyle/>
          <a:p>
            <a:pPr lvl="0" algn="ctr">
              <a:buSzPts val="1800"/>
            </a:pPr>
            <a:r>
              <a:rPr lang="en-US" sz="3200" b="1" dirty="0">
                <a:solidFill>
                  <a:srgbClr val="FF0000"/>
                </a:solidFill>
                <a:latin typeface="Times New Roman" panose="02020603050405020304" pitchFamily="18" charset="0"/>
                <a:cs typeface="Times New Roman" panose="02020603050405020304" pitchFamily="18" charset="0"/>
              </a:rPr>
              <a:t>TELANGANA WEATHER ANALYSICS USING POWER BI</a:t>
            </a:r>
            <a:endParaRPr sz="3200" b="1"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1C8C3882-6F42-D0A4-9022-D3BE52284815}"/>
              </a:ext>
            </a:extLst>
          </p:cNvPr>
          <p:cNvSpPr txBox="1"/>
          <p:nvPr/>
        </p:nvSpPr>
        <p:spPr>
          <a:xfrm>
            <a:off x="7922002" y="5176145"/>
            <a:ext cx="3348681" cy="1894749"/>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Presented by: </a:t>
            </a:r>
            <a:r>
              <a:rPr lang="en-US" sz="1600" dirty="0">
                <a:latin typeface="Times New Roman" panose="02020603050405020304" pitchFamily="18" charset="0"/>
                <a:cs typeface="Times New Roman" panose="02020603050405020304" pitchFamily="18" charset="0"/>
              </a:rPr>
              <a:t>S. Rithin Reddy</a:t>
            </a:r>
          </a:p>
          <a:p>
            <a:pPr>
              <a:lnSpc>
                <a:spcPct val="150000"/>
              </a:lnSpc>
            </a:pPr>
            <a:r>
              <a:rPr lang="en-US" sz="1600" b="1" dirty="0" err="1">
                <a:latin typeface="Times New Roman" panose="02020603050405020304" pitchFamily="18" charset="0"/>
                <a:cs typeface="Times New Roman" panose="02020603050405020304" pitchFamily="18" charset="0"/>
              </a:rPr>
              <a:t>BATCH.No</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450</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Subject:</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POWER BI</a:t>
            </a:r>
          </a:p>
          <a:p>
            <a:pPr>
              <a:lnSpc>
                <a:spcPct val="150000"/>
              </a:lnSpc>
            </a:pPr>
            <a:r>
              <a:rPr lang="en-IN" sz="1600" b="1" dirty="0">
                <a:latin typeface="Times New Roman" panose="02020603050405020304" pitchFamily="18" charset="0"/>
                <a:cs typeface="Times New Roman" panose="02020603050405020304" pitchFamily="18" charset="0"/>
              </a:rPr>
              <a:t>Branch: </a:t>
            </a:r>
            <a:r>
              <a:rPr lang="en-IN" sz="1600" dirty="0" err="1">
                <a:latin typeface="Times New Roman" panose="02020603050405020304" pitchFamily="18" charset="0"/>
                <a:cs typeface="Times New Roman" panose="02020603050405020304" pitchFamily="18" charset="0"/>
              </a:rPr>
              <a:t>Dilsukhnagar</a:t>
            </a:r>
            <a:endParaRPr lang="en-IN" sz="1600" dirty="0">
              <a:latin typeface="Times New Roman" panose="02020603050405020304" pitchFamily="18" charset="0"/>
              <a:cs typeface="Times New Roman" panose="02020603050405020304" pitchFamily="18" charset="0"/>
            </a:endParaRPr>
          </a:p>
          <a:p>
            <a:pPr>
              <a:lnSpc>
                <a:spcPct val="150000"/>
              </a:lnSpc>
            </a:pPr>
            <a:endParaRPr 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A806F1D4-D02B-9324-62FE-2B6061C02CF9}"/>
                  </a:ext>
                </a:extLst>
              </p14:cNvPr>
              <p14:cNvContentPartPr/>
              <p14:nvPr/>
            </p14:nvContentPartPr>
            <p14:xfrm>
              <a:off x="4632662" y="3197292"/>
              <a:ext cx="1207080" cy="308880"/>
            </p14:xfrm>
          </p:contentPart>
        </mc:Choice>
        <mc:Fallback xmlns="">
          <p:pic>
            <p:nvPicPr>
              <p:cNvPr id="4" name="Ink 3">
                <a:extLst>
                  <a:ext uri="{FF2B5EF4-FFF2-40B4-BE49-F238E27FC236}">
                    <a16:creationId xmlns:a16="http://schemas.microsoft.com/office/drawing/2014/main" id="{A806F1D4-D02B-9324-62FE-2B6061C02CF9}"/>
                  </a:ext>
                </a:extLst>
              </p:cNvPr>
              <p:cNvPicPr/>
              <p:nvPr/>
            </p:nvPicPr>
            <p:blipFill>
              <a:blip r:embed="rId5"/>
              <a:stretch>
                <a:fillRect/>
              </a:stretch>
            </p:blipFill>
            <p:spPr>
              <a:xfrm>
                <a:off x="4570022" y="3134292"/>
                <a:ext cx="1332720" cy="434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C784DEA4-4124-EABD-3695-B6662F420A91}"/>
                  </a:ext>
                </a:extLst>
              </p14:cNvPr>
              <p14:cNvContentPartPr/>
              <p14:nvPr/>
            </p14:nvContentPartPr>
            <p14:xfrm>
              <a:off x="3310922" y="2944759"/>
              <a:ext cx="5057640" cy="1064520"/>
            </p14:xfrm>
          </p:contentPart>
        </mc:Choice>
        <mc:Fallback xmlns="">
          <p:pic>
            <p:nvPicPr>
              <p:cNvPr id="5" name="Ink 4">
                <a:extLst>
                  <a:ext uri="{FF2B5EF4-FFF2-40B4-BE49-F238E27FC236}">
                    <a16:creationId xmlns:a16="http://schemas.microsoft.com/office/drawing/2014/main" id="{C784DEA4-4124-EABD-3695-B6662F420A91}"/>
                  </a:ext>
                </a:extLst>
              </p:cNvPr>
              <p:cNvPicPr/>
              <p:nvPr/>
            </p:nvPicPr>
            <p:blipFill>
              <a:blip r:embed="rId7"/>
              <a:stretch>
                <a:fillRect/>
              </a:stretch>
            </p:blipFill>
            <p:spPr>
              <a:xfrm>
                <a:off x="3247922" y="2881759"/>
                <a:ext cx="5183280" cy="1190160"/>
              </a:xfrm>
              <a:prstGeom prst="rect">
                <a:avLst/>
              </a:prstGeom>
            </p:spPr>
          </p:pic>
        </mc:Fallback>
      </mc:AlternateContent>
      <p:sp>
        <p:nvSpPr>
          <p:cNvPr id="3" name="TextBox 2">
            <a:extLst>
              <a:ext uri="{FF2B5EF4-FFF2-40B4-BE49-F238E27FC236}">
                <a16:creationId xmlns:a16="http://schemas.microsoft.com/office/drawing/2014/main" id="{C7B6EEB9-E88F-DA76-5192-6D79196E3067}"/>
              </a:ext>
            </a:extLst>
          </p:cNvPr>
          <p:cNvSpPr txBox="1"/>
          <p:nvPr/>
        </p:nvSpPr>
        <p:spPr>
          <a:xfrm>
            <a:off x="4269995" y="3090122"/>
            <a:ext cx="3652009" cy="523220"/>
          </a:xfrm>
          <a:prstGeom prst="rect">
            <a:avLst/>
          </a:prstGeom>
          <a:noFill/>
        </p:spPr>
        <p:txBody>
          <a:bodyPr wrap="square" rtlCol="0">
            <a:spAutoFit/>
          </a:bodyPr>
          <a:lstStyle/>
          <a:p>
            <a:pPr algn="ctr"/>
            <a:r>
              <a:rPr lang="en-US" sz="28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PROJECT 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37563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4000" b="1" dirty="0">
                <a:solidFill>
                  <a:srgbClr val="FF0000"/>
                </a:solidFill>
                <a:latin typeface="Times New Roman" panose="02020603050405020304" pitchFamily="18" charset="0"/>
                <a:cs typeface="Times New Roman" panose="02020603050405020304" pitchFamily="18" charset="0"/>
              </a:rPr>
              <a:t>Agenda</a:t>
            </a:r>
            <a:endParaRPr sz="4000" b="1"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684880" y="1399313"/>
            <a:ext cx="10515600" cy="4777234"/>
          </a:xfrm>
          <a:prstGeom prst="rect">
            <a:avLst/>
          </a:prstGeom>
          <a:noFill/>
          <a:ln>
            <a:noFill/>
          </a:ln>
        </p:spPr>
        <p:txBody>
          <a:bodyPr spcFirstLastPara="1" wrap="square" lIns="91425" tIns="45700" rIns="91425" bIns="45700" anchor="t" anchorCtr="0">
            <a:normAutofit/>
          </a:bodyPr>
          <a:lstStyle/>
          <a:p>
            <a:pPr lvl="0" indent="-431800">
              <a:buSzPts val="2400"/>
            </a:pPr>
            <a:endParaRPr lang="en-US" dirty="0">
              <a:latin typeface="Times New Roman" panose="02020603050405020304" pitchFamily="18" charset="0"/>
              <a:cs typeface="Times New Roman" panose="02020603050405020304" pitchFamily="18" charset="0"/>
            </a:endParaRPr>
          </a:p>
          <a:p>
            <a:pPr lvl="0" indent="-431800">
              <a:buSzPts val="2400"/>
            </a:pPr>
            <a:r>
              <a:rPr lang="en-US" dirty="0">
                <a:latin typeface="Times New Roman" panose="02020603050405020304" pitchFamily="18" charset="0"/>
                <a:cs typeface="Times New Roman" panose="02020603050405020304" pitchFamily="18" charset="0"/>
              </a:rPr>
              <a:t>Business Problem </a:t>
            </a:r>
          </a:p>
          <a:p>
            <a:pPr lvl="0" indent="-431800">
              <a:buSzPts val="2400"/>
            </a:pPr>
            <a:r>
              <a:rPr lang="en-US" dirty="0">
                <a:latin typeface="Times New Roman" panose="02020603050405020304" pitchFamily="18" charset="0"/>
                <a:cs typeface="Times New Roman" panose="02020603050405020304" pitchFamily="18" charset="0"/>
              </a:rPr>
              <a:t>Objective</a:t>
            </a:r>
          </a:p>
          <a:p>
            <a:pPr lvl="0" indent="-431800">
              <a:buSzPts val="2400"/>
            </a:pPr>
            <a:r>
              <a:rPr lang="en-US" dirty="0">
                <a:latin typeface="Times New Roman" panose="02020603050405020304" pitchFamily="18" charset="0"/>
                <a:cs typeface="Times New Roman" panose="02020603050405020304" pitchFamily="18" charset="0"/>
              </a:rPr>
              <a:t>Dataset Overview</a:t>
            </a:r>
          </a:p>
          <a:p>
            <a:pPr lvl="0" indent="-431800">
              <a:buSzPts val="2400"/>
            </a:pPr>
            <a:r>
              <a:rPr lang="en-US" dirty="0">
                <a:latin typeface="Times New Roman" panose="02020603050405020304" pitchFamily="18" charset="0"/>
                <a:cs typeface="Times New Roman" panose="02020603050405020304" pitchFamily="18" charset="0"/>
              </a:rPr>
              <a:t>Data Preparation &amp; Cleaning</a:t>
            </a:r>
          </a:p>
          <a:p>
            <a:pPr lvl="0" indent="-431800">
              <a:buSzPts val="2400"/>
            </a:pPr>
            <a:r>
              <a:rPr lang="en-US" spc="-7" dirty="0">
                <a:solidFill>
                  <a:schemeClr val="tx1"/>
                </a:solidFill>
                <a:latin typeface="Times New Roman" panose="02020603050405020304" pitchFamily="18" charset="0"/>
                <a:cs typeface="Times New Roman" panose="02020603050405020304" pitchFamily="18" charset="0"/>
              </a:rPr>
              <a:t>Dashboard Visualizations</a:t>
            </a:r>
          </a:p>
          <a:p>
            <a:pPr lvl="0" indent="-431800">
              <a:buSzPts val="2400"/>
            </a:pPr>
            <a:r>
              <a:rPr lang="en-US" spc="-7" dirty="0">
                <a:solidFill>
                  <a:schemeClr val="tx1"/>
                </a:solidFill>
                <a:latin typeface="Times New Roman" panose="02020603050405020304" pitchFamily="18" charset="0"/>
                <a:cs typeface="Times New Roman" panose="02020603050405020304" pitchFamily="18" charset="0"/>
              </a:rPr>
              <a:t>Applications </a:t>
            </a:r>
            <a:r>
              <a:rPr lang="en-US" spc="-33" dirty="0">
                <a:solidFill>
                  <a:schemeClr val="tx1"/>
                </a:solidFill>
                <a:latin typeface="Times New Roman" panose="02020603050405020304" pitchFamily="18" charset="0"/>
                <a:cs typeface="Times New Roman" panose="02020603050405020304" pitchFamily="18" charset="0"/>
              </a:rPr>
              <a:t>&amp; </a:t>
            </a:r>
            <a:r>
              <a:rPr lang="en-US" spc="-7" dirty="0">
                <a:solidFill>
                  <a:schemeClr val="tx1"/>
                </a:solidFill>
                <a:latin typeface="Times New Roman" panose="02020603050405020304" pitchFamily="18" charset="0"/>
                <a:cs typeface="Times New Roman" panose="02020603050405020304" pitchFamily="18" charset="0"/>
              </a:rPr>
              <a:t>Recommendations</a:t>
            </a:r>
          </a:p>
          <a:p>
            <a:pPr indent="-431800">
              <a:buSzPts val="2400"/>
            </a:pPr>
            <a:r>
              <a:rPr lang="en-US" dirty="0">
                <a:latin typeface="Times New Roman" panose="02020603050405020304" pitchFamily="18" charset="0"/>
                <a:cs typeface="Times New Roman" panose="02020603050405020304" pitchFamily="18" charset="0"/>
              </a:rPr>
              <a:t>Conclusion </a:t>
            </a:r>
            <a:r>
              <a:rPr lang="en-US" dirty="0">
                <a:solidFill>
                  <a:schemeClr val="tx1"/>
                </a:solidFill>
                <a:latin typeface="Times New Roman" panose="02020603050405020304" pitchFamily="18" charset="0"/>
                <a:cs typeface="Times New Roman" panose="02020603050405020304" pitchFamily="18" charset="0"/>
              </a:rPr>
              <a:t>&amp; Future Scope</a:t>
            </a:r>
          </a:p>
          <a:p>
            <a:pPr lvl="0" indent="-431800">
              <a:buSzPts val="2400"/>
            </a:pPr>
            <a:endParaRPr lang="en-US" sz="1800" dirty="0">
              <a:latin typeface="Times New Roman" panose="02020603050405020304" pitchFamily="18" charset="0"/>
              <a:cs typeface="Times New Roman" panose="02020603050405020304" pitchFamily="18" charset="0"/>
            </a:endParaRPr>
          </a:p>
          <a:p>
            <a:pPr lvl="0" indent="-431800">
              <a:buSzPts val="2400"/>
            </a:pP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B2706-9246-BBA6-7957-5BA9E6D2DB20}"/>
              </a:ext>
            </a:extLst>
          </p:cNvPr>
          <p:cNvSpPr>
            <a:spLocks noGrp="1"/>
          </p:cNvSpPr>
          <p:nvPr>
            <p:ph type="title"/>
          </p:nvPr>
        </p:nvSpPr>
        <p:spPr>
          <a:xfrm>
            <a:off x="669065" y="452731"/>
            <a:ext cx="10853866" cy="1169144"/>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Business Problem</a:t>
            </a:r>
            <a:br>
              <a:rPr lang="en-US" sz="3600" b="1" dirty="0">
                <a:solidFill>
                  <a:srgbClr val="FF0000"/>
                </a:solidFill>
                <a:latin typeface="Times New Roman" panose="02020603050405020304" pitchFamily="18" charset="0"/>
                <a:cs typeface="Times New Roman" panose="02020603050405020304" pitchFamily="18" charset="0"/>
              </a:rPr>
            </a:br>
            <a:endParaRPr lang="en-US" sz="3600" b="1" dirty="0">
              <a:solidFill>
                <a:srgbClr val="FF0000"/>
              </a:solidFill>
            </a:endParaRPr>
          </a:p>
        </p:txBody>
      </p:sp>
      <p:sp>
        <p:nvSpPr>
          <p:cNvPr id="3" name="Text Placeholder 2">
            <a:extLst>
              <a:ext uri="{FF2B5EF4-FFF2-40B4-BE49-F238E27FC236}">
                <a16:creationId xmlns:a16="http://schemas.microsoft.com/office/drawing/2014/main" id="{D01BB8E8-2F3C-BCF4-F625-E0939826B85D}"/>
              </a:ext>
            </a:extLst>
          </p:cNvPr>
          <p:cNvSpPr>
            <a:spLocks noGrp="1"/>
          </p:cNvSpPr>
          <p:nvPr>
            <p:ph type="body" idx="1"/>
          </p:nvPr>
        </p:nvSpPr>
        <p:spPr>
          <a:xfrm>
            <a:off x="433565" y="1271566"/>
            <a:ext cx="11324867" cy="4314868"/>
          </a:xfrm>
        </p:spPr>
        <p:txBody>
          <a:bodyPr>
            <a:normAutofit/>
          </a:bodyPr>
          <a:lstStyle/>
          <a:p>
            <a:pPr marL="114300" indent="0" algn="just">
              <a:lnSpc>
                <a:spcPct val="120000"/>
              </a:lnSpc>
              <a:buNone/>
            </a:pPr>
            <a:r>
              <a:rPr lang="en-US" dirty="0">
                <a:latin typeface="Times New Roman" panose="02020603050405020304" pitchFamily="18" charset="0"/>
                <a:cs typeface="Times New Roman" panose="02020603050405020304" pitchFamily="18" charset="0"/>
              </a:rPr>
              <a:t>Weather patterns in Telangana vary widely across districts and mandals due to geographical and seasonal factors. However, raw weather data is scattered and complex, making it difficult to identify trends in rainfall, temperature, humidity, and wind speed. This limits effective decision-making in agriculture, disaster management, and climate planning. Hence, there is a need for an interactive analytical system to visualize and analyze weather data efficiently.</a:t>
            </a:r>
          </a:p>
          <a:p>
            <a:pPr algn="just">
              <a:lnSpc>
                <a:spcPct val="12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0944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55FBD-90B5-DBB2-9B67-93DED0DF447D}"/>
              </a:ext>
            </a:extLst>
          </p:cNvPr>
          <p:cNvSpPr>
            <a:spLocks noGrp="1"/>
          </p:cNvSpPr>
          <p:nvPr>
            <p:ph type="title"/>
          </p:nvPr>
        </p:nvSpPr>
        <p:spPr>
          <a:xfrm>
            <a:off x="877172" y="721654"/>
            <a:ext cx="10484190" cy="814520"/>
          </a:xfrm>
        </p:spPr>
        <p:txBody>
          <a:bodyPr>
            <a:normAutofit fontScale="90000"/>
          </a:bodyPr>
          <a:lstStyle/>
          <a:p>
            <a:br>
              <a:rPr lang="en-US" b="1" dirty="0">
                <a:solidFill>
                  <a:srgbClr val="FF0000"/>
                </a:solidFill>
                <a:latin typeface="Times New Roman" panose="02020603050405020304" pitchFamily="18" charset="0"/>
                <a:cs typeface="Times New Roman" panose="02020603050405020304" pitchFamily="18" charset="0"/>
              </a:rPr>
            </a:br>
            <a:r>
              <a:rPr lang="en-US" b="1" dirty="0">
                <a:solidFill>
                  <a:srgbClr val="FF0000"/>
                </a:solidFill>
                <a:latin typeface="Times New Roman" panose="02020603050405020304" pitchFamily="18" charset="0"/>
                <a:cs typeface="Times New Roman" panose="02020603050405020304" pitchFamily="18" charset="0"/>
              </a:rPr>
              <a:t>Objective</a:t>
            </a:r>
            <a:br>
              <a:rPr lang="en-US" b="1" dirty="0">
                <a:solidFill>
                  <a:srgbClr val="FF0000"/>
                </a:solidFill>
                <a:latin typeface="Times New Roman" panose="02020603050405020304" pitchFamily="18" charset="0"/>
                <a:cs typeface="Times New Roman" panose="02020603050405020304" pitchFamily="18" charset="0"/>
              </a:rPr>
            </a:br>
            <a:endParaRPr lang="en-US" b="1" dirty="0">
              <a:solidFill>
                <a:srgbClr val="FF0000"/>
              </a:solidFill>
            </a:endParaRPr>
          </a:p>
        </p:txBody>
      </p:sp>
      <p:sp>
        <p:nvSpPr>
          <p:cNvPr id="4" name="Rectangle 1">
            <a:extLst>
              <a:ext uri="{FF2B5EF4-FFF2-40B4-BE49-F238E27FC236}">
                <a16:creationId xmlns:a16="http://schemas.microsoft.com/office/drawing/2014/main" id="{E4F3295E-313C-0107-2261-25F3BC90B788}"/>
              </a:ext>
            </a:extLst>
          </p:cNvPr>
          <p:cNvSpPr>
            <a:spLocks noGrp="1" noChangeArrowheads="1"/>
          </p:cNvSpPr>
          <p:nvPr>
            <p:ph type="body" idx="1"/>
          </p:nvPr>
        </p:nvSpPr>
        <p:spPr bwMode="auto">
          <a:xfrm>
            <a:off x="830638" y="1536174"/>
            <a:ext cx="949940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weather patterns in Telangana State.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rainfall, temperature, wind and humidity trends.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compare district-wise and mandal-wise variations.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interactive dashboards for better insights.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support agriculture planning and climate understanding.</a:t>
            </a:r>
          </a:p>
        </p:txBody>
      </p:sp>
    </p:spTree>
    <p:extLst>
      <p:ext uri="{BB962C8B-B14F-4D97-AF65-F5344CB8AC3E}">
        <p14:creationId xmlns:p14="http://schemas.microsoft.com/office/powerpoint/2010/main" val="902427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10A78-41A1-1790-AA94-BBFB629D93DB}"/>
              </a:ext>
            </a:extLst>
          </p:cNvPr>
          <p:cNvSpPr>
            <a:spLocks noGrp="1"/>
          </p:cNvSpPr>
          <p:nvPr>
            <p:ph type="title"/>
          </p:nvPr>
        </p:nvSpPr>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Dataset Overview</a:t>
            </a:r>
            <a:br>
              <a:rPr lang="en-US" sz="3200" b="1" dirty="0">
                <a:solidFill>
                  <a:srgbClr val="FF0000"/>
                </a:solidFill>
                <a:latin typeface="Times New Roman" panose="02020603050405020304" pitchFamily="18" charset="0"/>
                <a:cs typeface="Times New Roman" panose="02020603050405020304" pitchFamily="18" charset="0"/>
              </a:rPr>
            </a:br>
            <a:endParaRPr lang="en-US" sz="3200" b="1" dirty="0">
              <a:solidFill>
                <a:srgbClr val="FF0000"/>
              </a:solidFill>
            </a:endParaRPr>
          </a:p>
        </p:txBody>
      </p:sp>
      <p:sp>
        <p:nvSpPr>
          <p:cNvPr id="5" name="Rectangle 2">
            <a:extLst>
              <a:ext uri="{FF2B5EF4-FFF2-40B4-BE49-F238E27FC236}">
                <a16:creationId xmlns:a16="http://schemas.microsoft.com/office/drawing/2014/main" id="{A9244A2B-0714-10FB-F51E-331D5BA231CA}"/>
              </a:ext>
            </a:extLst>
          </p:cNvPr>
          <p:cNvSpPr>
            <a:spLocks noGrp="1" noChangeArrowheads="1"/>
          </p:cNvSpPr>
          <p:nvPr>
            <p:ph type="body" idx="1"/>
          </p:nvPr>
        </p:nvSpPr>
        <p:spPr bwMode="auto">
          <a:xfrm>
            <a:off x="593725" y="1229896"/>
            <a:ext cx="663515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Name: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Telangana State Weather Dataset</a:t>
            </a:r>
          </a:p>
          <a:p>
            <a:pPr marL="3429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CSV files (Monthly data)</a:t>
            </a:r>
          </a:p>
          <a:p>
            <a:pPr marL="3429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Type: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CSV</a:t>
            </a:r>
          </a:p>
          <a:p>
            <a:pPr marL="3429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Years Covered: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2021 – 2024</a:t>
            </a:r>
          </a:p>
          <a:p>
            <a:pPr marL="3429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Granularity: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District &amp; Mandal level</a:t>
            </a:r>
          </a:p>
          <a:p>
            <a:pPr marL="342900" eaLnBrk="0" fontAlgn="base" hangingPunct="0">
              <a:lnSpc>
                <a:spcPct val="100000"/>
              </a:lnSpc>
              <a:spcBef>
                <a:spcPct val="0"/>
              </a:spcBef>
              <a:spcAft>
                <a:spcPct val="0"/>
              </a:spcAft>
              <a:buClrTx/>
              <a:buSzTx/>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Columns: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eaLnBrk="0" fontAlgn="base"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District</a:t>
            </a:r>
          </a:p>
          <a:p>
            <a:pPr marL="800100" lvl="1" eaLnBrk="0" fontAlgn="base"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Mandal</a:t>
            </a:r>
          </a:p>
          <a:p>
            <a:pPr marL="800100" lvl="1" eaLnBrk="0" fontAlgn="base"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Date</a:t>
            </a:r>
          </a:p>
          <a:p>
            <a:pPr marL="800100" lvl="1" eaLnBrk="0" fontAlgn="base"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Rainfall (mm)</a:t>
            </a:r>
          </a:p>
          <a:p>
            <a:pPr marL="800100" lvl="1" eaLnBrk="0" fontAlgn="base"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 &amp; Max Temperature (°C)</a:t>
            </a:r>
          </a:p>
          <a:p>
            <a:pPr marL="800100" lvl="1" eaLnBrk="0" fontAlgn="base"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 &amp; Max Humidity (%)</a:t>
            </a:r>
          </a:p>
          <a:p>
            <a:pPr marL="800100" lvl="1" eaLnBrk="0" fontAlgn="base" hangingPunct="0">
              <a:lnSpc>
                <a:spcPct val="100000"/>
              </a:lnSpc>
              <a:spcBef>
                <a:spcPct val="0"/>
              </a:spcBef>
              <a:spcAft>
                <a:spcPct val="0"/>
              </a:spcAft>
              <a:buClrTx/>
              <a:buSzTx/>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 &amp; Max Wind Speed (Kmph)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1465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CA61D-7487-82A3-F823-480ACFA3A2D0}"/>
              </a:ext>
            </a:extLst>
          </p:cNvPr>
          <p:cNvSpPr>
            <a:spLocks noGrp="1"/>
          </p:cNvSpPr>
          <p:nvPr>
            <p:ph type="title"/>
          </p:nvPr>
        </p:nvSpPr>
        <p:spPr>
          <a:xfrm>
            <a:off x="705576" y="491690"/>
            <a:ext cx="10389957" cy="818169"/>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Data Preparation &amp; Cleaning</a:t>
            </a:r>
          </a:p>
        </p:txBody>
      </p:sp>
      <p:sp>
        <p:nvSpPr>
          <p:cNvPr id="4" name="Rectangle 1">
            <a:extLst>
              <a:ext uri="{FF2B5EF4-FFF2-40B4-BE49-F238E27FC236}">
                <a16:creationId xmlns:a16="http://schemas.microsoft.com/office/drawing/2014/main" id="{357BB1CA-5BCF-FB27-8A9E-95721F4D423C}"/>
              </a:ext>
            </a:extLst>
          </p:cNvPr>
          <p:cNvSpPr>
            <a:spLocks noGrp="1" noChangeArrowheads="1"/>
          </p:cNvSpPr>
          <p:nvPr>
            <p:ph type="body" idx="1"/>
          </p:nvPr>
        </p:nvSpPr>
        <p:spPr bwMode="auto">
          <a:xfrm>
            <a:off x="859140" y="1170256"/>
            <a:ext cx="779624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Imported multiple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CSV files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Power BI</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Removed unwanted Excel files to avoid errors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Standardized column names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Date column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proper date format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Created calculated measures: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Average Rainfall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Average Min &amp; Max Temperature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Temperature Range (Max – Min)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Handled missing and inconsistent values</a:t>
            </a:r>
          </a:p>
        </p:txBody>
      </p:sp>
    </p:spTree>
    <p:extLst>
      <p:ext uri="{BB962C8B-B14F-4D97-AF65-F5344CB8AC3E}">
        <p14:creationId xmlns:p14="http://schemas.microsoft.com/office/powerpoint/2010/main" val="3892649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B8168-51AC-512E-FCB9-5F0891BBC00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53EF96A-C444-9F1F-04DB-283F710EB9B7}"/>
              </a:ext>
            </a:extLst>
          </p:cNvPr>
          <p:cNvSpPr>
            <a:spLocks noGrp="1"/>
          </p:cNvSpPr>
          <p:nvPr>
            <p:ph type="body" idx="1"/>
          </p:nvPr>
        </p:nvSpPr>
        <p:spPr/>
        <p:txBody>
          <a:bodyPr/>
          <a:lstStyle/>
          <a:p>
            <a:endParaRPr lang="en-US" dirty="0"/>
          </a:p>
        </p:txBody>
      </p:sp>
      <p:pic>
        <p:nvPicPr>
          <p:cNvPr id="8" name="Picture 7" descr="A screenshot of a weather analysis&#10;&#10;AI-generated content may be incorrect.">
            <a:extLst>
              <a:ext uri="{FF2B5EF4-FFF2-40B4-BE49-F238E27FC236}">
                <a16:creationId xmlns:a16="http://schemas.microsoft.com/office/drawing/2014/main" id="{9329EED5-770A-212B-F517-5536471ACF38}"/>
              </a:ext>
            </a:extLst>
          </p:cNvPr>
          <p:cNvPicPr>
            <a:picLocks noChangeAspect="1"/>
          </p:cNvPicPr>
          <p:nvPr/>
        </p:nvPicPr>
        <p:blipFill>
          <a:blip r:embed="rId3"/>
          <a:stretch>
            <a:fillRect/>
          </a:stretch>
        </p:blipFill>
        <p:spPr>
          <a:xfrm>
            <a:off x="0" y="0"/>
            <a:ext cx="12141985" cy="6885923"/>
          </a:xfrm>
          <a:prstGeom prst="rect">
            <a:avLst/>
          </a:prstGeom>
        </p:spPr>
      </p:pic>
    </p:spTree>
    <p:extLst>
      <p:ext uri="{BB962C8B-B14F-4D97-AF65-F5344CB8AC3E}">
        <p14:creationId xmlns:p14="http://schemas.microsoft.com/office/powerpoint/2010/main" val="2959055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70994" y="655171"/>
            <a:ext cx="6795346" cy="698482"/>
          </a:xfrm>
          <a:prstGeom prst="rect">
            <a:avLst/>
          </a:prstGeom>
        </p:spPr>
        <p:txBody>
          <a:bodyPr spcFirstLastPara="1" vert="horz" wrap="square" lIns="0" tIns="8467" rIns="0" bIns="0" rtlCol="0" anchor="ctr" anchorCtr="0">
            <a:spAutoFit/>
          </a:bodyPr>
          <a:lstStyle/>
          <a:p>
            <a:pPr marL="8467">
              <a:lnSpc>
                <a:spcPct val="100000"/>
              </a:lnSpc>
              <a:spcBef>
                <a:spcPts val="67"/>
              </a:spcBef>
              <a:tabLst>
                <a:tab pos="2660360" algn="l"/>
              </a:tabLst>
            </a:pPr>
            <a:r>
              <a:rPr b="1" spc="-7" dirty="0">
                <a:solidFill>
                  <a:srgbClr val="FF0000"/>
                </a:solidFill>
                <a:latin typeface="Times New Roman" panose="02020603050405020304" pitchFamily="18" charset="0"/>
                <a:cs typeface="Times New Roman" panose="02020603050405020304" pitchFamily="18" charset="0"/>
              </a:rPr>
              <a:t>Dashboard</a:t>
            </a:r>
            <a:r>
              <a:rPr b="1" dirty="0">
                <a:solidFill>
                  <a:srgbClr val="FF0000"/>
                </a:solidFill>
                <a:latin typeface="Times New Roman" panose="02020603050405020304" pitchFamily="18" charset="0"/>
                <a:cs typeface="Times New Roman" panose="02020603050405020304" pitchFamily="18" charset="0"/>
              </a:rPr>
              <a:t>	</a:t>
            </a:r>
            <a:r>
              <a:rPr b="1" spc="-7" dirty="0">
                <a:solidFill>
                  <a:srgbClr val="FF0000"/>
                </a:solidFill>
                <a:latin typeface="Times New Roman" panose="02020603050405020304" pitchFamily="18" charset="0"/>
                <a:cs typeface="Times New Roman" panose="02020603050405020304" pitchFamily="18" charset="0"/>
              </a:rPr>
              <a:t>Visualizations</a:t>
            </a:r>
          </a:p>
        </p:txBody>
      </p:sp>
      <p:sp>
        <p:nvSpPr>
          <p:cNvPr id="10" name="object 10"/>
          <p:cNvSpPr txBox="1">
            <a:spLocks noGrp="1"/>
          </p:cNvSpPr>
          <p:nvPr>
            <p:ph type="body" idx="1"/>
          </p:nvPr>
        </p:nvSpPr>
        <p:spPr>
          <a:xfrm>
            <a:off x="502497" y="1353653"/>
            <a:ext cx="11846666" cy="4276321"/>
          </a:xfrm>
          <a:prstGeom prst="rect">
            <a:avLst/>
          </a:prstGeom>
        </p:spPr>
        <p:txBody>
          <a:bodyPr spcFirstLastPara="1" vert="horz" wrap="square" lIns="0" tIns="138007" rIns="0" bIns="0" rtlCol="0" anchor="t" anchorCtr="0">
            <a:spAutoFit/>
          </a:bodyPr>
          <a:lstStyle/>
          <a:p>
            <a:pPr marL="0" indent="0">
              <a:lnSpc>
                <a:spcPct val="100000"/>
              </a:lnSpc>
              <a:spcBef>
                <a:spcPts val="1087"/>
              </a:spcBef>
              <a:buNone/>
            </a:pPr>
            <a:r>
              <a:rPr b="1" dirty="0">
                <a:latin typeface="Times New Roman" panose="02020603050405020304" pitchFamily="18" charset="0"/>
                <a:cs typeface="Times New Roman" panose="02020603050405020304" pitchFamily="18" charset="0"/>
              </a:rPr>
              <a:t>1</a:t>
            </a:r>
            <a:r>
              <a:rPr sz="2667" b="1" dirty="0">
                <a:latin typeface="Times New Roman" panose="02020603050405020304" pitchFamily="18" charset="0"/>
                <a:cs typeface="Times New Roman" panose="02020603050405020304" pitchFamily="18" charset="0"/>
              </a:rPr>
              <a:t>.</a:t>
            </a:r>
            <a:r>
              <a:rPr sz="2667" b="1" spc="-47"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TS WEATHER REPORT (OVERVIEW DASHBOARD)</a:t>
            </a:r>
            <a:endParaRPr lang="en-IN" sz="1867" b="1" dirty="0">
              <a:latin typeface="Times New Roman" panose="02020603050405020304" pitchFamily="18" charset="0"/>
              <a:cs typeface="Times New Roman" panose="02020603050405020304" pitchFamily="18" charset="0"/>
            </a:endParaRPr>
          </a:p>
          <a:p>
            <a:pPr marL="114300" indent="0">
              <a:buNone/>
            </a:pPr>
            <a:r>
              <a:rPr lang="en-IN" sz="1867" dirty="0">
                <a:latin typeface="Times New Roman" panose="02020603050405020304" pitchFamily="18" charset="0"/>
                <a:cs typeface="Times New Roman" panose="02020603050405020304" pitchFamily="18" charset="0"/>
              </a:rPr>
              <a:t> </a:t>
            </a:r>
            <a:r>
              <a:rPr lang="en-IN" sz="2133" dirty="0">
                <a:solidFill>
                  <a:srgbClr val="FF0000"/>
                </a:solidFill>
                <a:latin typeface="Times New Roman" panose="02020603050405020304" pitchFamily="18" charset="0"/>
                <a:cs typeface="Times New Roman" panose="02020603050405020304" pitchFamily="18" charset="0"/>
              </a:rPr>
              <a:t>Visuals Used:</a:t>
            </a:r>
          </a:p>
          <a:p>
            <a:r>
              <a:rPr lang="en-US" sz="1800" b="1" dirty="0">
                <a:latin typeface="Times New Roman" panose="02020603050405020304" pitchFamily="18" charset="0"/>
                <a:cs typeface="Times New Roman" panose="02020603050405020304" pitchFamily="18" charset="0"/>
              </a:rPr>
              <a:t>KPI Cards: </a:t>
            </a:r>
            <a:r>
              <a:rPr lang="en-US" sz="1800" dirty="0">
                <a:latin typeface="Times New Roman" panose="02020603050405020304" pitchFamily="18" charset="0"/>
                <a:cs typeface="Times New Roman" panose="02020603050405020304" pitchFamily="18" charset="0"/>
              </a:rPr>
              <a:t>Total Rainfall, Sum of Minimum Temperature, Maximum Wind Speed, Sum of Maximum Humidity</a:t>
            </a:r>
          </a:p>
          <a:p>
            <a:r>
              <a:rPr lang="en-US" sz="1800" b="1" dirty="0">
                <a:latin typeface="Times New Roman" panose="02020603050405020304" pitchFamily="18" charset="0"/>
                <a:cs typeface="Times New Roman" panose="02020603050405020304" pitchFamily="18" charset="0"/>
              </a:rPr>
              <a:t>Pie Chart</a:t>
            </a:r>
            <a:r>
              <a:rPr lang="en-IN" sz="1800" b="1"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Contribution of Rainfall across Years</a:t>
            </a:r>
          </a:p>
          <a:p>
            <a:r>
              <a:rPr lang="en-US" sz="1800" b="1" dirty="0">
                <a:latin typeface="Times New Roman" panose="02020603050405020304" pitchFamily="18" charset="0"/>
                <a:cs typeface="Times New Roman" panose="02020603050405020304" pitchFamily="18" charset="0"/>
              </a:rPr>
              <a:t>Line Chart </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Average Maximum Temperature by Month</a:t>
            </a:r>
          </a:p>
          <a:p>
            <a:r>
              <a:rPr lang="en-US" sz="1800" b="1" dirty="0">
                <a:latin typeface="Times New Roman" panose="02020603050405020304" pitchFamily="18" charset="0"/>
                <a:cs typeface="Times New Roman" panose="02020603050405020304" pitchFamily="18" charset="0"/>
              </a:rPr>
              <a:t>Column Chart </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Total Rainfall by District</a:t>
            </a:r>
          </a:p>
          <a:p>
            <a:r>
              <a:rPr lang="en-US" sz="1800" b="1" dirty="0">
                <a:latin typeface="Times New Roman" panose="02020603050405020304" pitchFamily="18" charset="0"/>
                <a:cs typeface="Times New Roman" panose="02020603050405020304" pitchFamily="18" charset="0"/>
              </a:rPr>
              <a:t>Funnel Chart </a:t>
            </a:r>
            <a:r>
              <a:rPr lang="en-IN"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Average Minimum Humidity by Month</a:t>
            </a:r>
          </a:p>
          <a:p>
            <a:r>
              <a:rPr lang="en-US" sz="1800" b="1" dirty="0">
                <a:latin typeface="Times New Roman" panose="02020603050405020304" pitchFamily="18" charset="0"/>
                <a:cs typeface="Times New Roman" panose="02020603050405020304" pitchFamily="18" charset="0"/>
              </a:rPr>
              <a:t>Gauge Chart </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Average  Maximum Wind Speed and Minimum Wind Speed </a:t>
            </a:r>
          </a:p>
          <a:p>
            <a:pPr marL="114300" indent="0">
              <a:buNone/>
            </a:pPr>
            <a:r>
              <a:rPr lang="en-US" sz="1800" b="1" dirty="0">
                <a:latin typeface="Times New Roman" panose="02020603050405020304" pitchFamily="18" charset="0"/>
                <a:cs typeface="Times New Roman" panose="02020603050405020304" pitchFamily="18" charset="0"/>
              </a:rPr>
              <a:t>Purpose: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To provide a high-level summary of Telangana’s overall weather conditions, enabling quick comparison of rainfall, temperature, humidity, and wind speed patterns across districts and months.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90936-E662-3DEA-A55A-BCED8FB785A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C005FD01-7AA5-09F9-CF75-B872DABE9827}"/>
              </a:ext>
            </a:extLst>
          </p:cNvPr>
          <p:cNvSpPr>
            <a:spLocks noGrp="1"/>
          </p:cNvSpPr>
          <p:nvPr>
            <p:ph type="body" idx="1"/>
          </p:nvPr>
        </p:nvSpPr>
        <p:spPr/>
        <p:txBody>
          <a:bodyPr/>
          <a:lstStyle/>
          <a:p>
            <a:endParaRPr lang="en-US"/>
          </a:p>
        </p:txBody>
      </p:sp>
      <p:pic>
        <p:nvPicPr>
          <p:cNvPr id="5" name="Picture 4" descr="A screenshot of a computer&#10;&#10;AI-generated content may be incorrect.">
            <a:extLst>
              <a:ext uri="{FF2B5EF4-FFF2-40B4-BE49-F238E27FC236}">
                <a16:creationId xmlns:a16="http://schemas.microsoft.com/office/drawing/2014/main" id="{26C18BA1-AC7E-FDA4-C240-BBDBE27936FA}"/>
              </a:ext>
            </a:extLst>
          </p:cNvPr>
          <p:cNvPicPr>
            <a:picLocks noChangeAspect="1"/>
          </p:cNvPicPr>
          <p:nvPr/>
        </p:nvPicPr>
        <p:blipFill>
          <a:blip r:embed="rId2"/>
          <a:stretch>
            <a:fillRect/>
          </a:stretch>
        </p:blipFill>
        <p:spPr>
          <a:xfrm>
            <a:off x="-99528" y="0"/>
            <a:ext cx="12416075" cy="6803463"/>
          </a:xfrm>
          <a:prstGeom prst="rect">
            <a:avLst/>
          </a:prstGeom>
        </p:spPr>
      </p:pic>
    </p:spTree>
    <p:extLst>
      <p:ext uri="{BB962C8B-B14F-4D97-AF65-F5344CB8AC3E}">
        <p14:creationId xmlns:p14="http://schemas.microsoft.com/office/powerpoint/2010/main" val="1879590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801D4-218F-1CCE-E78E-675AB7E15A54}"/>
              </a:ext>
            </a:extLst>
          </p:cNvPr>
          <p:cNvSpPr>
            <a:spLocks noGrp="1"/>
          </p:cNvSpPr>
          <p:nvPr>
            <p:ph type="title"/>
          </p:nvPr>
        </p:nvSpPr>
        <p:spPr>
          <a:xfrm>
            <a:off x="838201" y="681037"/>
            <a:ext cx="10515600" cy="847726"/>
          </a:xfrm>
        </p:spPr>
        <p:txBody>
          <a:bodyPr>
            <a:normAutofit/>
          </a:bodyPr>
          <a:lstStyle/>
          <a:p>
            <a:pPr>
              <a:lnSpc>
                <a:spcPct val="100000"/>
              </a:lnSpc>
              <a:spcBef>
                <a:spcPts val="1087"/>
              </a:spcBef>
            </a:pPr>
            <a:r>
              <a:rPr lang="en-US" sz="3200" b="1" dirty="0">
                <a:latin typeface="Times New Roman" panose="02020603050405020304" pitchFamily="18" charset="0"/>
                <a:cs typeface="Times New Roman" panose="02020603050405020304" pitchFamily="18" charset="0"/>
              </a:rPr>
              <a:t>2. RAINFALL ANALYSIS </a:t>
            </a:r>
          </a:p>
        </p:txBody>
      </p:sp>
      <p:sp>
        <p:nvSpPr>
          <p:cNvPr id="3" name="Text Placeholder 2">
            <a:extLst>
              <a:ext uri="{FF2B5EF4-FFF2-40B4-BE49-F238E27FC236}">
                <a16:creationId xmlns:a16="http://schemas.microsoft.com/office/drawing/2014/main" id="{68594C42-D0D5-C481-12EE-C30E9D781564}"/>
              </a:ext>
            </a:extLst>
          </p:cNvPr>
          <p:cNvSpPr>
            <a:spLocks noGrp="1"/>
          </p:cNvSpPr>
          <p:nvPr>
            <p:ph type="body" idx="1"/>
          </p:nvPr>
        </p:nvSpPr>
        <p:spPr>
          <a:xfrm>
            <a:off x="785812" y="1528763"/>
            <a:ext cx="10620375" cy="4433888"/>
          </a:xfrm>
        </p:spPr>
        <p:txBody>
          <a:bodyPr>
            <a:normAutofit fontScale="77500" lnSpcReduction="20000"/>
          </a:bodyPr>
          <a:lstStyle/>
          <a:p>
            <a:pPr marL="114300" indent="0">
              <a:buNone/>
            </a:pPr>
            <a:r>
              <a:rPr lang="en-IN" sz="3600" dirty="0">
                <a:solidFill>
                  <a:srgbClr val="FF0000"/>
                </a:solidFill>
                <a:latin typeface="Times New Roman" panose="02020603050405020304" pitchFamily="18" charset="0"/>
                <a:cs typeface="Times New Roman" panose="02020603050405020304" pitchFamily="18" charset="0"/>
              </a:rPr>
              <a:t>Visuals Used:</a:t>
            </a:r>
          </a:p>
          <a:p>
            <a:r>
              <a:rPr lang="en-US" b="1" dirty="0">
                <a:latin typeface="Times New Roman" panose="02020603050405020304" pitchFamily="18" charset="0"/>
                <a:cs typeface="Times New Roman" panose="02020603050405020304" pitchFamily="18" charset="0"/>
              </a:rPr>
              <a:t>Slicers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Year, Month, District, Mandal</a:t>
            </a:r>
          </a:p>
          <a:p>
            <a:r>
              <a:rPr lang="en-US" b="1" dirty="0">
                <a:latin typeface="Times New Roman" panose="02020603050405020304" pitchFamily="18" charset="0"/>
                <a:cs typeface="Times New Roman" panose="02020603050405020304" pitchFamily="18" charset="0"/>
              </a:rPr>
              <a:t>Line Chart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Total Rainfall by Year and District </a:t>
            </a:r>
          </a:p>
          <a:p>
            <a:r>
              <a:rPr lang="en-US" b="1" dirty="0">
                <a:latin typeface="Times New Roman" panose="02020603050405020304" pitchFamily="18" charset="0"/>
                <a:cs typeface="Times New Roman" panose="02020603050405020304" pitchFamily="18" charset="0"/>
              </a:rPr>
              <a:t>Donut Chart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Average Rainfall Contribution by Month</a:t>
            </a:r>
          </a:p>
          <a:p>
            <a:r>
              <a:rPr lang="en-US" b="1" dirty="0">
                <a:latin typeface="Times New Roman" panose="02020603050405020304" pitchFamily="18" charset="0"/>
                <a:cs typeface="Times New Roman" panose="02020603050405020304" pitchFamily="18" charset="0"/>
              </a:rPr>
              <a:t>Stacked Column Chart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Comparison of Year and Total Rainfall</a:t>
            </a:r>
          </a:p>
          <a:p>
            <a:r>
              <a:rPr lang="en-US" b="1" dirty="0" err="1">
                <a:latin typeface="Times New Roman" panose="02020603050405020304" pitchFamily="18" charset="0"/>
                <a:cs typeface="Times New Roman" panose="02020603050405020304" pitchFamily="18" charset="0"/>
              </a:rPr>
              <a:t>Treemap</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Average Rainfall by Month</a:t>
            </a:r>
          </a:p>
          <a:p>
            <a:pPr marL="114300" indent="0">
              <a:lnSpc>
                <a:spcPct val="160000"/>
              </a:lnSpc>
              <a:buNone/>
            </a:pPr>
            <a:r>
              <a:rPr lang="en-US" b="1" u="sng" dirty="0">
                <a:latin typeface="Times New Roman" panose="02020603050405020304" pitchFamily="18" charset="0"/>
                <a:cs typeface="Times New Roman" panose="02020603050405020304" pitchFamily="18" charset="0"/>
              </a:rPr>
              <a:t>Purpose: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analyze rainfall distribution across years, identify seasonal rainfall trends, compare district-wise rainfall, and highlight mandals experiencing high or low rainfall intensity.</a:t>
            </a:r>
          </a:p>
          <a:p>
            <a:pPr marL="11430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6561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5EA90-F2A4-AB76-6FB0-232A081AA80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B5F06FA-9BD6-1058-9CDF-8204A868CD44}"/>
              </a:ext>
            </a:extLst>
          </p:cNvPr>
          <p:cNvSpPr>
            <a:spLocks noGrp="1"/>
          </p:cNvSpPr>
          <p:nvPr>
            <p:ph type="body" idx="1"/>
          </p:nvPr>
        </p:nvSpPr>
        <p:spPr/>
        <p:txBody>
          <a:bodyPr/>
          <a:lstStyle/>
          <a:p>
            <a:endParaRPr lang="en-US"/>
          </a:p>
        </p:txBody>
      </p:sp>
      <p:pic>
        <p:nvPicPr>
          <p:cNvPr id="6" name="Picture 5">
            <a:extLst>
              <a:ext uri="{FF2B5EF4-FFF2-40B4-BE49-F238E27FC236}">
                <a16:creationId xmlns:a16="http://schemas.microsoft.com/office/drawing/2014/main" id="{BDC40C35-4945-31BC-691B-F18295EAD85C}"/>
              </a:ext>
            </a:extLst>
          </p:cNvPr>
          <p:cNvPicPr>
            <a:picLocks noChangeAspect="1"/>
          </p:cNvPicPr>
          <p:nvPr/>
        </p:nvPicPr>
        <p:blipFill>
          <a:blip r:embed="rId2"/>
          <a:stretch>
            <a:fillRect/>
          </a:stretch>
        </p:blipFill>
        <p:spPr>
          <a:xfrm>
            <a:off x="31836" y="0"/>
            <a:ext cx="12128327" cy="6858000"/>
          </a:xfrm>
          <a:prstGeom prst="rect">
            <a:avLst/>
          </a:prstGeom>
        </p:spPr>
      </p:pic>
    </p:spTree>
    <p:extLst>
      <p:ext uri="{BB962C8B-B14F-4D97-AF65-F5344CB8AC3E}">
        <p14:creationId xmlns:p14="http://schemas.microsoft.com/office/powerpoint/2010/main" val="3318279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5185F-B264-DE55-EB87-B619CBB5A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CF8F0C-788F-55F0-C643-3E2C4EFCFF23}"/>
              </a:ext>
            </a:extLst>
          </p:cNvPr>
          <p:cNvSpPr>
            <a:spLocks noGrp="1"/>
          </p:cNvSpPr>
          <p:nvPr>
            <p:ph type="title"/>
          </p:nvPr>
        </p:nvSpPr>
        <p:spPr>
          <a:xfrm>
            <a:off x="695323" y="509587"/>
            <a:ext cx="10515600" cy="847726"/>
          </a:xfrm>
        </p:spPr>
        <p:txBody>
          <a:bodyPr>
            <a:normAutofit/>
          </a:bodyPr>
          <a:lstStyle/>
          <a:p>
            <a:pPr>
              <a:lnSpc>
                <a:spcPct val="100000"/>
              </a:lnSpc>
              <a:spcBef>
                <a:spcPts val="1087"/>
              </a:spcBef>
            </a:pPr>
            <a:r>
              <a:rPr lang="en-US" sz="3600" b="1" dirty="0">
                <a:latin typeface="Times New Roman" panose="02020603050405020304" pitchFamily="18" charset="0"/>
                <a:cs typeface="Times New Roman" panose="02020603050405020304" pitchFamily="18" charset="0"/>
              </a:rPr>
              <a:t>3. Temperature Insights</a:t>
            </a:r>
          </a:p>
        </p:txBody>
      </p:sp>
      <p:sp>
        <p:nvSpPr>
          <p:cNvPr id="3" name="Text Placeholder 2">
            <a:extLst>
              <a:ext uri="{FF2B5EF4-FFF2-40B4-BE49-F238E27FC236}">
                <a16:creationId xmlns:a16="http://schemas.microsoft.com/office/drawing/2014/main" id="{CBA2B73D-8FB7-4F49-438B-14F743D01AB5}"/>
              </a:ext>
            </a:extLst>
          </p:cNvPr>
          <p:cNvSpPr>
            <a:spLocks noGrp="1"/>
          </p:cNvSpPr>
          <p:nvPr>
            <p:ph type="body" idx="1"/>
          </p:nvPr>
        </p:nvSpPr>
        <p:spPr>
          <a:xfrm>
            <a:off x="552448" y="1528761"/>
            <a:ext cx="10801351" cy="4648197"/>
          </a:xfrm>
        </p:spPr>
        <p:txBody>
          <a:bodyPr>
            <a:normAutofit fontScale="92500" lnSpcReduction="10000"/>
          </a:bodyPr>
          <a:lstStyle/>
          <a:p>
            <a:pPr marL="114300" indent="0">
              <a:buNone/>
            </a:pPr>
            <a:r>
              <a:rPr lang="en-IN" sz="3600" dirty="0">
                <a:solidFill>
                  <a:srgbClr val="FF0000"/>
                </a:solidFill>
                <a:latin typeface="Times New Roman" panose="02020603050405020304" pitchFamily="18" charset="0"/>
                <a:cs typeface="Times New Roman" panose="02020603050405020304" pitchFamily="18" charset="0"/>
              </a:rPr>
              <a:t>Visuals Used:</a:t>
            </a:r>
          </a:p>
          <a:p>
            <a:r>
              <a:rPr lang="en-US" b="1" dirty="0">
                <a:latin typeface="Times New Roman" panose="02020603050405020304" pitchFamily="18" charset="0"/>
                <a:cs typeface="Times New Roman" panose="02020603050405020304" pitchFamily="18" charset="0"/>
              </a:rPr>
              <a:t>Slicers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Year, Month, District, Mandal</a:t>
            </a:r>
          </a:p>
          <a:p>
            <a:r>
              <a:rPr lang="en-US" b="1" dirty="0">
                <a:latin typeface="Times New Roman" panose="02020603050405020304" pitchFamily="18" charset="0"/>
                <a:cs typeface="Times New Roman" panose="02020603050405020304" pitchFamily="18" charset="0"/>
              </a:rPr>
              <a:t>Line Chart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Average Minimum and Maximum Temperature by Year</a:t>
            </a:r>
          </a:p>
          <a:p>
            <a:r>
              <a:rPr lang="en-US" b="1" dirty="0">
                <a:latin typeface="Times New Roman" panose="02020603050405020304" pitchFamily="18" charset="0"/>
                <a:cs typeface="Times New Roman" panose="02020603050405020304" pitchFamily="18" charset="0"/>
              </a:rPr>
              <a:t>Scatter Plot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Relationship between Daily Temperature and </a:t>
            </a:r>
            <a:r>
              <a:rPr lang="en-US" dirty="0" err="1">
                <a:latin typeface="Times New Roman" panose="02020603050405020304" pitchFamily="18" charset="0"/>
                <a:cs typeface="Times New Roman" panose="02020603050405020304" pitchFamily="18" charset="0"/>
              </a:rPr>
              <a:t>Avgerage</a:t>
            </a:r>
            <a:r>
              <a:rPr lang="en-US" dirty="0">
                <a:latin typeface="Times New Roman" panose="02020603050405020304" pitchFamily="18" charset="0"/>
                <a:cs typeface="Times New Roman" panose="02020603050405020304" pitchFamily="18" charset="0"/>
              </a:rPr>
              <a:t> Maximum Temperature By District </a:t>
            </a:r>
          </a:p>
          <a:p>
            <a:r>
              <a:rPr lang="en-US" b="1" dirty="0">
                <a:latin typeface="Times New Roman" panose="02020603050405020304" pitchFamily="18" charset="0"/>
                <a:cs typeface="Times New Roman" panose="02020603050405020304" pitchFamily="18" charset="0"/>
              </a:rPr>
              <a:t>Box Plot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Distribution and outliers of Maximum Temperature</a:t>
            </a:r>
          </a:p>
          <a:p>
            <a:r>
              <a:rPr lang="en-US" b="1" dirty="0">
                <a:latin typeface="Times New Roman" panose="02020603050405020304" pitchFamily="18" charset="0"/>
                <a:cs typeface="Times New Roman" panose="02020603050405020304" pitchFamily="18" charset="0"/>
              </a:rPr>
              <a:t>Column Chart</a:t>
            </a:r>
            <a:r>
              <a:rPr lang="en-IN" dirty="0">
                <a:latin typeface="Times New Roman" panose="02020603050405020304" pitchFamily="18" charset="0"/>
                <a:cs typeface="Times New Roman" panose="02020603050405020304" pitchFamily="18" charset="0"/>
              </a:rPr>
              <a:t>→ Temperature Range By Year</a:t>
            </a:r>
            <a:endParaRPr lang="en-US" dirty="0">
              <a:latin typeface="Times New Roman" panose="02020603050405020304" pitchFamily="18" charset="0"/>
              <a:cs typeface="Times New Roman" panose="02020603050405020304" pitchFamily="18" charset="0"/>
            </a:endParaRPr>
          </a:p>
          <a:p>
            <a:pPr marL="114300" indent="0">
              <a:buNone/>
            </a:pPr>
            <a:r>
              <a:rPr lang="en-US" b="1" u="sng" dirty="0">
                <a:latin typeface="Times New Roman" panose="02020603050405020304" pitchFamily="18" charset="0"/>
                <a:cs typeface="Times New Roman" panose="02020603050405020304" pitchFamily="18" charset="0"/>
              </a:rPr>
              <a:t>Purpose: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understand temperature variation across districts, analyze long-term temperature trends, identify extreme temperature conditions, and examine the correlation between temperature and rainfall.</a:t>
            </a:r>
          </a:p>
        </p:txBody>
      </p:sp>
      <p:sp>
        <p:nvSpPr>
          <p:cNvPr id="7" name="Rectangle 4">
            <a:extLst>
              <a:ext uri="{FF2B5EF4-FFF2-40B4-BE49-F238E27FC236}">
                <a16:creationId xmlns:a16="http://schemas.microsoft.com/office/drawing/2014/main" id="{06E751C3-D9FA-292C-6B51-0164CBABBC3E}"/>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8945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FA3A4-7F48-9EF4-DFC4-0C943DF2F5E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2F0AC577-D06E-B483-ACB9-590934B92E63}"/>
              </a:ext>
            </a:extLst>
          </p:cNvPr>
          <p:cNvSpPr>
            <a:spLocks noGrp="1"/>
          </p:cNvSpPr>
          <p:nvPr>
            <p:ph type="body" idx="1"/>
          </p:nvPr>
        </p:nvSpPr>
        <p:spPr/>
        <p:txBody>
          <a:bodyPr/>
          <a:lstStyle/>
          <a:p>
            <a:endParaRPr lang="en-US"/>
          </a:p>
        </p:txBody>
      </p:sp>
      <p:pic>
        <p:nvPicPr>
          <p:cNvPr id="6" name="Picture 5">
            <a:extLst>
              <a:ext uri="{FF2B5EF4-FFF2-40B4-BE49-F238E27FC236}">
                <a16:creationId xmlns:a16="http://schemas.microsoft.com/office/drawing/2014/main" id="{4A386E22-D573-59B0-097F-D56E463567A1}"/>
              </a:ext>
            </a:extLst>
          </p:cNvPr>
          <p:cNvPicPr>
            <a:picLocks noChangeAspect="1"/>
          </p:cNvPicPr>
          <p:nvPr/>
        </p:nvPicPr>
        <p:blipFill>
          <a:blip r:embed="rId2"/>
          <a:stretch>
            <a:fillRect/>
          </a:stretch>
        </p:blipFill>
        <p:spPr>
          <a:xfrm>
            <a:off x="37254" y="9047"/>
            <a:ext cx="12117491" cy="6839905"/>
          </a:xfrm>
          <a:prstGeom prst="rect">
            <a:avLst/>
          </a:prstGeom>
        </p:spPr>
      </p:pic>
    </p:spTree>
    <p:extLst>
      <p:ext uri="{BB962C8B-B14F-4D97-AF65-F5344CB8AC3E}">
        <p14:creationId xmlns:p14="http://schemas.microsoft.com/office/powerpoint/2010/main" val="1662784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FEAD1-A27E-FB31-E622-2D36B1973751}"/>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4. Wind Speed Analysis</a:t>
            </a:r>
          </a:p>
        </p:txBody>
      </p:sp>
      <p:sp>
        <p:nvSpPr>
          <p:cNvPr id="3" name="Text Placeholder 2">
            <a:extLst>
              <a:ext uri="{FF2B5EF4-FFF2-40B4-BE49-F238E27FC236}">
                <a16:creationId xmlns:a16="http://schemas.microsoft.com/office/drawing/2014/main" id="{997E7435-F8A1-8025-51DD-754BB781B6D1}"/>
              </a:ext>
            </a:extLst>
          </p:cNvPr>
          <p:cNvSpPr>
            <a:spLocks noGrp="1"/>
          </p:cNvSpPr>
          <p:nvPr>
            <p:ph type="body" idx="1"/>
          </p:nvPr>
        </p:nvSpPr>
        <p:spPr>
          <a:xfrm>
            <a:off x="838200" y="1510318"/>
            <a:ext cx="10515600" cy="4351338"/>
          </a:xfrm>
        </p:spPr>
        <p:txBody>
          <a:bodyPr>
            <a:normAutofit fontScale="85000" lnSpcReduction="20000"/>
          </a:bodyPr>
          <a:lstStyle/>
          <a:p>
            <a:pPr marL="114300" indent="0">
              <a:buNone/>
            </a:pPr>
            <a:r>
              <a:rPr lang="en-IN" sz="3600" dirty="0">
                <a:solidFill>
                  <a:srgbClr val="FF0000"/>
                </a:solidFill>
                <a:latin typeface="Times New Roman" panose="02020603050405020304" pitchFamily="18" charset="0"/>
                <a:cs typeface="Times New Roman" panose="02020603050405020304" pitchFamily="18" charset="0"/>
              </a:rPr>
              <a:t>Visuals Used:</a:t>
            </a:r>
          </a:p>
          <a:p>
            <a:r>
              <a:rPr lang="en-US" b="1" dirty="0">
                <a:latin typeface="Times New Roman" panose="02020603050405020304" pitchFamily="18" charset="0"/>
                <a:cs typeface="Times New Roman" panose="02020603050405020304" pitchFamily="18" charset="0"/>
              </a:rPr>
              <a:t>Slicers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Year, Month, District, Mandal</a:t>
            </a:r>
          </a:p>
          <a:p>
            <a:r>
              <a:rPr lang="en-US" b="1" dirty="0">
                <a:latin typeface="Times New Roman" panose="02020603050405020304" pitchFamily="18" charset="0"/>
                <a:cs typeface="Times New Roman" panose="02020603050405020304" pitchFamily="18" charset="0"/>
              </a:rPr>
              <a:t>Table</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Year-wise Count of Maximum Wind Speed and Average Rainfall</a:t>
            </a:r>
          </a:p>
          <a:p>
            <a:r>
              <a:rPr lang="en-US" b="1" dirty="0">
                <a:latin typeface="Times New Roman" panose="02020603050405020304" pitchFamily="18" charset="0"/>
                <a:cs typeface="Times New Roman" panose="02020603050405020304" pitchFamily="18" charset="0"/>
              </a:rPr>
              <a:t>Pie Chart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Distribution of AVG Max Wind by District</a:t>
            </a:r>
          </a:p>
          <a:p>
            <a:r>
              <a:rPr lang="en-US" b="1" dirty="0">
                <a:latin typeface="Times New Roman" panose="02020603050405020304" pitchFamily="18" charset="0"/>
                <a:cs typeface="Times New Roman" panose="02020603050405020304" pitchFamily="18" charset="0"/>
              </a:rPr>
              <a:t>Line Chart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Average Maximum and Minimum Wind Speed by Year</a:t>
            </a:r>
          </a:p>
          <a:p>
            <a:r>
              <a:rPr lang="en-US" b="1" dirty="0">
                <a:latin typeface="Times New Roman" panose="02020603050405020304" pitchFamily="18" charset="0"/>
                <a:cs typeface="Times New Roman" panose="02020603050405020304" pitchFamily="18" charset="0"/>
              </a:rPr>
              <a:t>Column Chart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Average Minimum Wind Speed by Month</a:t>
            </a:r>
          </a:p>
          <a:p>
            <a:pPr marL="114300" indent="0">
              <a:lnSpc>
                <a:spcPct val="120000"/>
              </a:lnSpc>
              <a:buNone/>
            </a:pPr>
            <a:r>
              <a:rPr lang="en-US" b="1" u="sng" dirty="0">
                <a:latin typeface="Times New Roman" panose="02020603050405020304" pitchFamily="18" charset="0"/>
                <a:cs typeface="Times New Roman" panose="02020603050405020304" pitchFamily="18" charset="0"/>
              </a:rPr>
              <a:t>Purpose: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analyze wind speed behavior across years and districts, detect extreme wind events, identify seasonal wind patterns, and assess how wind speed varies throughout the year.</a:t>
            </a:r>
          </a:p>
        </p:txBody>
      </p:sp>
    </p:spTree>
    <p:extLst>
      <p:ext uri="{BB962C8B-B14F-4D97-AF65-F5344CB8AC3E}">
        <p14:creationId xmlns:p14="http://schemas.microsoft.com/office/powerpoint/2010/main" val="3133139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F7DFF-395E-0F0F-2543-EAAB756A679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97A2023-8EF1-6E7C-4915-065470197D7D}"/>
              </a:ext>
            </a:extLst>
          </p:cNvPr>
          <p:cNvSpPr>
            <a:spLocks noGrp="1"/>
          </p:cNvSpPr>
          <p:nvPr>
            <p:ph type="body" idx="1"/>
          </p:nvPr>
        </p:nvSpPr>
        <p:spPr/>
        <p:txBody>
          <a:bodyPr/>
          <a:lstStyle/>
          <a:p>
            <a:endParaRPr lang="en-US"/>
          </a:p>
        </p:txBody>
      </p:sp>
      <p:pic>
        <p:nvPicPr>
          <p:cNvPr id="6" name="Picture 5">
            <a:extLst>
              <a:ext uri="{FF2B5EF4-FFF2-40B4-BE49-F238E27FC236}">
                <a16:creationId xmlns:a16="http://schemas.microsoft.com/office/drawing/2014/main" id="{6F471527-34E8-2183-6008-EC14B57CD7E8}"/>
              </a:ext>
            </a:extLst>
          </p:cNvPr>
          <p:cNvPicPr>
            <a:picLocks noChangeAspect="1"/>
          </p:cNvPicPr>
          <p:nvPr/>
        </p:nvPicPr>
        <p:blipFill>
          <a:blip r:embed="rId2"/>
          <a:stretch>
            <a:fillRect/>
          </a:stretch>
        </p:blipFill>
        <p:spPr>
          <a:xfrm>
            <a:off x="0" y="7679"/>
            <a:ext cx="12192000" cy="6842642"/>
          </a:xfrm>
          <a:prstGeom prst="rect">
            <a:avLst/>
          </a:prstGeom>
        </p:spPr>
      </p:pic>
    </p:spTree>
    <p:extLst>
      <p:ext uri="{BB962C8B-B14F-4D97-AF65-F5344CB8AC3E}">
        <p14:creationId xmlns:p14="http://schemas.microsoft.com/office/powerpoint/2010/main" val="1861816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87F40-19F7-428F-8AD5-3F54BD6583C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5. Humidity Patterns</a:t>
            </a:r>
          </a:p>
        </p:txBody>
      </p:sp>
      <p:sp>
        <p:nvSpPr>
          <p:cNvPr id="3" name="Text Placeholder 2">
            <a:extLst>
              <a:ext uri="{FF2B5EF4-FFF2-40B4-BE49-F238E27FC236}">
                <a16:creationId xmlns:a16="http://schemas.microsoft.com/office/drawing/2014/main" id="{77D6C809-1376-6BE2-4A58-7FD4D03ECA9B}"/>
              </a:ext>
            </a:extLst>
          </p:cNvPr>
          <p:cNvSpPr>
            <a:spLocks noGrp="1"/>
          </p:cNvSpPr>
          <p:nvPr>
            <p:ph type="body" idx="1"/>
          </p:nvPr>
        </p:nvSpPr>
        <p:spPr>
          <a:xfrm>
            <a:off x="723900" y="1568450"/>
            <a:ext cx="10515600" cy="4351338"/>
          </a:xfrm>
        </p:spPr>
        <p:txBody>
          <a:bodyPr>
            <a:normAutofit fontScale="92500" lnSpcReduction="10000"/>
          </a:bodyPr>
          <a:lstStyle/>
          <a:p>
            <a:pPr marL="114300" indent="0">
              <a:buNone/>
            </a:pPr>
            <a:r>
              <a:rPr lang="en-IN" sz="3600" dirty="0">
                <a:solidFill>
                  <a:srgbClr val="FF0000"/>
                </a:solidFill>
                <a:latin typeface="Times New Roman" panose="02020603050405020304" pitchFamily="18" charset="0"/>
                <a:cs typeface="Times New Roman" panose="02020603050405020304" pitchFamily="18" charset="0"/>
              </a:rPr>
              <a:t>Visuals Used:</a:t>
            </a:r>
          </a:p>
          <a:p>
            <a:r>
              <a:rPr lang="en-US" b="1" dirty="0">
                <a:latin typeface="Times New Roman" panose="02020603050405020304" pitchFamily="18" charset="0"/>
                <a:cs typeface="Times New Roman" panose="02020603050405020304" pitchFamily="18" charset="0"/>
              </a:rPr>
              <a:t>Slicers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Year, Month, District, Mandal</a:t>
            </a:r>
          </a:p>
          <a:p>
            <a:r>
              <a:rPr lang="en-US" b="1" dirty="0">
                <a:latin typeface="Times New Roman" panose="02020603050405020304" pitchFamily="18" charset="0"/>
                <a:cs typeface="Times New Roman" panose="02020603050405020304" pitchFamily="18" charset="0"/>
              </a:rPr>
              <a:t>Bar Chart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Average Minimum and Maximum Humidity by District</a:t>
            </a:r>
          </a:p>
          <a:p>
            <a:r>
              <a:rPr lang="en-US" b="1" dirty="0">
                <a:latin typeface="Times New Roman" panose="02020603050405020304" pitchFamily="18" charset="0"/>
                <a:cs typeface="Times New Roman" panose="02020603050405020304" pitchFamily="18" charset="0"/>
              </a:rPr>
              <a:t>Line Chart</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Average Humidity Trends by Year.</a:t>
            </a:r>
          </a:p>
          <a:p>
            <a:r>
              <a:rPr lang="en-US" b="1" dirty="0" err="1">
                <a:latin typeface="Times New Roman" panose="02020603050405020304" pitchFamily="18" charset="0"/>
                <a:cs typeface="Times New Roman" panose="02020603050405020304" pitchFamily="18" charset="0"/>
              </a:rPr>
              <a:t>Treemap</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Average Minimum Humidity by Month and District</a:t>
            </a:r>
          </a:p>
          <a:p>
            <a:pPr marL="114300" indent="0">
              <a:lnSpc>
                <a:spcPct val="110000"/>
              </a:lnSpc>
              <a:buNone/>
            </a:pPr>
            <a:r>
              <a:rPr lang="en-US" b="1" u="sng" dirty="0">
                <a:latin typeface="Times New Roman" panose="02020603050405020304" pitchFamily="18" charset="0"/>
                <a:cs typeface="Times New Roman" panose="02020603050405020304" pitchFamily="18" charset="0"/>
              </a:rPr>
              <a:t>Purpose: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study humidity variations across seasons and districts, identify regions with high or low humidity levels, and analyze long-term humidity trends impacting climate and comfort conditions.</a:t>
            </a:r>
          </a:p>
        </p:txBody>
      </p:sp>
    </p:spTree>
    <p:extLst>
      <p:ext uri="{BB962C8B-B14F-4D97-AF65-F5344CB8AC3E}">
        <p14:creationId xmlns:p14="http://schemas.microsoft.com/office/powerpoint/2010/main" val="794597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5221" y="552040"/>
            <a:ext cx="7890510" cy="636927"/>
          </a:xfrm>
          <a:prstGeom prst="rect">
            <a:avLst/>
          </a:prstGeom>
        </p:spPr>
        <p:txBody>
          <a:bodyPr spcFirstLastPara="1" vert="horz" wrap="square" lIns="0" tIns="8467" rIns="0" bIns="0" rtlCol="0" anchor="ctr" anchorCtr="0">
            <a:spAutoFit/>
          </a:bodyPr>
          <a:lstStyle/>
          <a:p>
            <a:pPr marL="8467">
              <a:lnSpc>
                <a:spcPct val="100000"/>
              </a:lnSpc>
              <a:spcBef>
                <a:spcPts val="67"/>
              </a:spcBef>
              <a:tabLst>
                <a:tab pos="3011321" algn="l"/>
                <a:tab pos="3531623" algn="l"/>
              </a:tabLst>
            </a:pPr>
            <a:r>
              <a:rPr sz="4000" spc="-7" dirty="0">
                <a:solidFill>
                  <a:srgbClr val="FF0000"/>
                </a:solidFill>
                <a:latin typeface="Times New Roman" panose="02020603050405020304" pitchFamily="18" charset="0"/>
                <a:cs typeface="Times New Roman" panose="02020603050405020304" pitchFamily="18" charset="0"/>
              </a:rPr>
              <a:t>Applications</a:t>
            </a:r>
            <a:r>
              <a:rPr lang="en-US" sz="4000" spc="-7" dirty="0">
                <a:solidFill>
                  <a:srgbClr val="FF0000"/>
                </a:solidFill>
                <a:latin typeface="Times New Roman" panose="02020603050405020304" pitchFamily="18" charset="0"/>
                <a:cs typeface="Times New Roman" panose="02020603050405020304" pitchFamily="18" charset="0"/>
              </a:rPr>
              <a:t> </a:t>
            </a:r>
            <a:r>
              <a:rPr sz="4000" spc="-33" dirty="0">
                <a:solidFill>
                  <a:srgbClr val="FF0000"/>
                </a:solidFill>
                <a:latin typeface="Times New Roman" panose="02020603050405020304" pitchFamily="18" charset="0"/>
                <a:cs typeface="Times New Roman" panose="02020603050405020304" pitchFamily="18" charset="0"/>
              </a:rPr>
              <a:t>&amp;</a:t>
            </a:r>
            <a:r>
              <a:rPr lang="en-US" sz="4000" spc="-33" dirty="0">
                <a:solidFill>
                  <a:srgbClr val="FF0000"/>
                </a:solidFill>
                <a:latin typeface="Times New Roman" panose="02020603050405020304" pitchFamily="18" charset="0"/>
                <a:cs typeface="Times New Roman" panose="02020603050405020304" pitchFamily="18" charset="0"/>
              </a:rPr>
              <a:t> </a:t>
            </a:r>
            <a:r>
              <a:rPr sz="4000" spc="-7" dirty="0">
                <a:solidFill>
                  <a:srgbClr val="FF0000"/>
                </a:solidFill>
                <a:latin typeface="Times New Roman" panose="02020603050405020304" pitchFamily="18" charset="0"/>
                <a:cs typeface="Times New Roman" panose="02020603050405020304" pitchFamily="18" charset="0"/>
              </a:rPr>
              <a:t>Recommendations</a:t>
            </a:r>
          </a:p>
        </p:txBody>
      </p:sp>
      <p:sp>
        <p:nvSpPr>
          <p:cNvPr id="13" name="object 13"/>
          <p:cNvSpPr txBox="1">
            <a:spLocks noGrp="1"/>
          </p:cNvSpPr>
          <p:nvPr>
            <p:ph type="body" idx="1"/>
          </p:nvPr>
        </p:nvSpPr>
        <p:spPr>
          <a:xfrm>
            <a:off x="613880" y="1188967"/>
            <a:ext cx="11578120" cy="5045313"/>
          </a:xfrm>
          <a:prstGeom prst="rect">
            <a:avLst/>
          </a:prstGeom>
        </p:spPr>
        <p:txBody>
          <a:bodyPr spcFirstLastPara="1" vert="horz" wrap="square" lIns="0" tIns="138007" rIns="0" bIns="0" rtlCol="0" anchor="t" anchorCtr="0">
            <a:spAutoFit/>
          </a:bodyPr>
          <a:lstStyle/>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Applications</a:t>
            </a:r>
          </a:p>
          <a:p>
            <a:pPr indent="-457200" eaLnBrk="0" fontAlgn="base" hangingPunct="0">
              <a:lnSpc>
                <a:spcPct val="15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Helps farmers plan crops based on rainfall patterns</a:t>
            </a:r>
          </a:p>
          <a:p>
            <a:pPr indent="-457200" eaLnBrk="0" fontAlgn="base" hangingPunct="0">
              <a:lnSpc>
                <a:spcPct val="10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Useful for government disaster management</a:t>
            </a:r>
          </a:p>
          <a:p>
            <a:pPr indent="-457200" eaLnBrk="0" fontAlgn="base" hangingPunct="0">
              <a:lnSpc>
                <a:spcPct val="10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Supports climate change analysis</a:t>
            </a:r>
          </a:p>
          <a:p>
            <a:pPr indent="-457200" eaLnBrk="0" fontAlgn="base" hangingPunct="0">
              <a:lnSpc>
                <a:spcPct val="10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Assists water resource planning</a:t>
            </a:r>
          </a:p>
          <a:p>
            <a:pPr indent="-457200" eaLnBrk="0" fontAlgn="base" hangingPunct="0">
              <a:lnSpc>
                <a:spcPct val="100000"/>
              </a:lnSpc>
              <a:spcBef>
                <a:spcPct val="0"/>
              </a:spcBef>
              <a:spcAft>
                <a:spcPct val="0"/>
              </a:spcAft>
              <a:buClrTx/>
              <a:buSzTx/>
            </a:pPr>
            <a:r>
              <a:rPr lang="en-US" altLang="en-US" sz="2400" dirty="0">
                <a:solidFill>
                  <a:schemeClr val="tx1"/>
                </a:solidFill>
                <a:latin typeface="Times New Roman" panose="02020603050405020304" pitchFamily="18" charset="0"/>
                <a:cs typeface="Times New Roman" panose="02020603050405020304" pitchFamily="18" charset="0"/>
              </a:rPr>
              <a:t>Can be used in weather forecasting models</a:t>
            </a:r>
          </a:p>
          <a:p>
            <a:pPr>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Recommendations</a:t>
            </a:r>
          </a:p>
          <a:p>
            <a:r>
              <a:rPr lang="en-US" sz="2400" dirty="0">
                <a:latin typeface="Times New Roman" panose="02020603050405020304" pitchFamily="18" charset="0"/>
                <a:cs typeface="Times New Roman" panose="02020603050405020304" pitchFamily="18" charset="0"/>
              </a:rPr>
              <a:t>Focus flood preparedness in high rainfall districts</a:t>
            </a:r>
          </a:p>
          <a:p>
            <a:r>
              <a:rPr lang="en-US" sz="2400" dirty="0">
                <a:latin typeface="Times New Roman" panose="02020603050405020304" pitchFamily="18" charset="0"/>
                <a:cs typeface="Times New Roman" panose="02020603050405020304" pitchFamily="18" charset="0"/>
              </a:rPr>
              <a:t>Plan water storage based on seasonal rainfall trends</a:t>
            </a:r>
          </a:p>
          <a:p>
            <a:r>
              <a:rPr lang="en-US" sz="2400" dirty="0">
                <a:latin typeface="Times New Roman" panose="02020603050405020304" pitchFamily="18" charset="0"/>
                <a:cs typeface="Times New Roman" panose="02020603050405020304" pitchFamily="18" charset="0"/>
              </a:rPr>
              <a:t>Implement heat mitigation strategies in high-temperature regions</a:t>
            </a:r>
          </a:p>
          <a:p>
            <a:r>
              <a:rPr lang="en-US" sz="2400" dirty="0">
                <a:latin typeface="Times New Roman" panose="02020603050405020304" pitchFamily="18" charset="0"/>
                <a:cs typeface="Times New Roman" panose="02020603050405020304" pitchFamily="18" charset="0"/>
              </a:rPr>
              <a:t>Monitor extreme humidity and wind conditions for public safety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7E7D6-5B24-D802-D560-40990453613D}"/>
              </a:ext>
            </a:extLst>
          </p:cNvPr>
          <p:cNvSpPr>
            <a:spLocks noGrp="1"/>
          </p:cNvSpPr>
          <p:nvPr>
            <p:ph type="title"/>
          </p:nvPr>
        </p:nvSpPr>
        <p:spPr>
          <a:xfrm>
            <a:off x="838200" y="637286"/>
            <a:ext cx="10515600" cy="1325563"/>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Conclusion &amp; Future Scope:</a:t>
            </a:r>
          </a:p>
        </p:txBody>
      </p:sp>
      <p:sp>
        <p:nvSpPr>
          <p:cNvPr id="3" name="Text Placeholder 2">
            <a:extLst>
              <a:ext uri="{FF2B5EF4-FFF2-40B4-BE49-F238E27FC236}">
                <a16:creationId xmlns:a16="http://schemas.microsoft.com/office/drawing/2014/main" id="{158A3D19-4D5E-022A-2000-C5C06EEE7BBE}"/>
              </a:ext>
            </a:extLst>
          </p:cNvPr>
          <p:cNvSpPr>
            <a:spLocks noGrp="1"/>
          </p:cNvSpPr>
          <p:nvPr>
            <p:ph type="body" idx="1"/>
          </p:nvPr>
        </p:nvSpPr>
        <p:spPr>
          <a:xfrm>
            <a:off x="798003" y="1687752"/>
            <a:ext cx="10595994" cy="3870180"/>
          </a:xfrm>
        </p:spPr>
        <p:txBody>
          <a:bodyPr>
            <a:normAutofit/>
          </a:bodyPr>
          <a:lstStyle/>
          <a:p>
            <a:pPr marL="114300" indent="0">
              <a:buNone/>
            </a:pPr>
            <a:r>
              <a:rPr lang="en-US" sz="2400" b="1" dirty="0">
                <a:latin typeface="Times New Roman" panose="02020603050405020304" pitchFamily="18" charset="0"/>
                <a:cs typeface="Times New Roman" panose="02020603050405020304" pitchFamily="18" charset="0"/>
              </a:rPr>
              <a:t>Conclusion: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Power BI enables effective visualization of complex weather data</a:t>
            </a:r>
          </a:p>
          <a:p>
            <a:r>
              <a:rPr lang="en-US" sz="2400" dirty="0">
                <a:latin typeface="Times New Roman" panose="02020603050405020304" pitchFamily="18" charset="0"/>
                <a:cs typeface="Times New Roman" panose="02020603050405020304" pitchFamily="18" charset="0"/>
              </a:rPr>
              <a:t>District-wise analysis provides valuable regional insights</a:t>
            </a:r>
          </a:p>
          <a:p>
            <a:pPr marL="114300" indent="0">
              <a:buNone/>
            </a:pPr>
            <a:r>
              <a:rPr lang="en-US" sz="2400" b="1" dirty="0">
                <a:latin typeface="Times New Roman" panose="02020603050405020304" pitchFamily="18" charset="0"/>
                <a:cs typeface="Times New Roman" panose="02020603050405020304" pitchFamily="18" charset="0"/>
              </a:rPr>
              <a:t>Future Enhancements: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Add more years of data for trend analysis</a:t>
            </a:r>
          </a:p>
          <a:p>
            <a:r>
              <a:rPr lang="en-US" sz="2400" dirty="0">
                <a:latin typeface="Times New Roman" panose="02020603050405020304" pitchFamily="18" charset="0"/>
                <a:cs typeface="Times New Roman" panose="02020603050405020304" pitchFamily="18" charset="0"/>
              </a:rPr>
              <a:t>Integrate real-time weather APIs</a:t>
            </a:r>
          </a:p>
          <a:p>
            <a:r>
              <a:rPr lang="en-US" sz="2400" dirty="0">
                <a:latin typeface="Times New Roman" panose="02020603050405020304" pitchFamily="18" charset="0"/>
                <a:cs typeface="Times New Roman" panose="02020603050405020304" pitchFamily="18" charset="0"/>
              </a:rPr>
              <a:t>Predict rainfall and temperature using ML models</a:t>
            </a:r>
          </a:p>
          <a:p>
            <a:r>
              <a:rPr lang="en-US" sz="2400" dirty="0">
                <a:latin typeface="Times New Roman" panose="02020603050405020304" pitchFamily="18" charset="0"/>
                <a:cs typeface="Times New Roman" panose="02020603050405020304" pitchFamily="18" charset="0"/>
              </a:rPr>
              <a:t>Create mobile-friendly dashboards</a:t>
            </a:r>
          </a:p>
          <a:p>
            <a:pPr marL="114300" indent="0">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753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917987" y="3092073"/>
            <a:ext cx="5365207" cy="17954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Times New Roman" panose="02020603050405020304" pitchFamily="18" charset="0"/>
                <a:ea typeface="Libre Baskerville"/>
                <a:cs typeface="Times New Roman" panose="02020603050405020304" pitchFamily="18" charset="0"/>
                <a:sym typeface="Libre Baskerville"/>
              </a:rPr>
              <a:t>THANK  YOU</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2185</TotalTime>
  <Words>840</Words>
  <Application>Microsoft Office PowerPoint</Application>
  <PresentationFormat>Widescreen</PresentationFormat>
  <Paragraphs>110</Paragraphs>
  <Slides>19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Times New Roman</vt:lpstr>
      <vt:lpstr>Libre Baskerville</vt:lpstr>
      <vt:lpstr>Calibri</vt:lpstr>
      <vt:lpstr>Arial</vt:lpstr>
      <vt:lpstr>Wingdings</vt:lpstr>
      <vt:lpstr>Office Theme</vt:lpstr>
      <vt:lpstr>PowerPoint Presentation</vt:lpstr>
      <vt:lpstr>Agenda</vt:lpstr>
      <vt:lpstr>Business Problem </vt:lpstr>
      <vt:lpstr> Objective </vt:lpstr>
      <vt:lpstr>Dataset Overview </vt:lpstr>
      <vt:lpstr>Data Preparation &amp; Cleaning</vt:lpstr>
      <vt:lpstr>PowerPoint Presentation</vt:lpstr>
      <vt:lpstr>Dashboard Visualizations</vt:lpstr>
      <vt:lpstr>PowerPoint Presentation</vt:lpstr>
      <vt:lpstr>2. RAINFALL ANALYSIS </vt:lpstr>
      <vt:lpstr>PowerPoint Presentation</vt:lpstr>
      <vt:lpstr>3. Temperature Insights</vt:lpstr>
      <vt:lpstr>PowerPoint Presentation</vt:lpstr>
      <vt:lpstr>4. Wind Speed Analysis</vt:lpstr>
      <vt:lpstr>PowerPoint Presentation</vt:lpstr>
      <vt:lpstr>5. Humidity Patterns</vt:lpstr>
      <vt:lpstr>Applications &amp; Recommendations</vt:lpstr>
      <vt:lpstr>Conclusion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Surakanti Rithin Reddy</cp:lastModifiedBy>
  <cp:revision>100</cp:revision>
  <dcterms:created xsi:type="dcterms:W3CDTF">2021-02-16T05:19:01Z</dcterms:created>
  <dcterms:modified xsi:type="dcterms:W3CDTF">2026-01-03T07:09:33Z</dcterms:modified>
</cp:coreProperties>
</file>